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5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70" r:id="rId9"/>
    <p:sldId id="271" r:id="rId10"/>
    <p:sldId id="269" r:id="rId11"/>
    <p:sldId id="268" r:id="rId12"/>
    <p:sldId id="265" r:id="rId13"/>
    <p:sldId id="26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1170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24AA8-F311-4ABC-8748-4A852C5A6ECD}" type="datetimeFigureOut">
              <a:rPr lang="es-419" smtClean="0"/>
              <a:t>18/8/2025</a:t>
            </a:fld>
            <a:endParaRPr lang="es-419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419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419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972E5D-85DF-4E89-91D5-2C34C2EE1B60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25292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419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972E5D-85DF-4E89-91D5-2C34C2EE1B60}" type="slidenum">
              <a:rPr lang="es-419" smtClean="0"/>
              <a:t>1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199608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1433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014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4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085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7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8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49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20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55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601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394506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0719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952159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146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2274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43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308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CL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PROYECTO INGENIERÍA DE SOFTWARE PRIMER INCREMENTO PARA EL SISTEMA BIOMÉTRICO WEB EUGCOM</a:t>
            </a:r>
            <a:endParaRPr lang="es-CL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32" y="2905271"/>
            <a:ext cx="6347714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Integrantes: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Addan Ignacio Sáez Rodríguez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Diego Yves Amaro Veliz Riquelme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Vicente Ignacio Henríquez Cortes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Catalina Vidal Gallarda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Felipe Andrés Uribe del pino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Benjamin Alberto Franco Silva</a:t>
            </a:r>
          </a:p>
          <a:p>
            <a:pPr marL="0" indent="0">
              <a:buNone/>
            </a:pPr>
            <a:endParaRPr lang="es-CL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sz="11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Profesor</a:t>
            </a:r>
            <a:r>
              <a:rPr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Paulo Luis Francisco </a:t>
            </a:r>
            <a:r>
              <a:rPr lang="es-CL" sz="1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Quinsacara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Jofré</a:t>
            </a:r>
          </a:p>
          <a:p>
            <a:pPr marL="0" indent="0">
              <a:buNone/>
            </a:pPr>
            <a:endParaRPr lang="es-E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CL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Fecha</a:t>
            </a: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>
              <a:buNone/>
            </a:pPr>
            <a:r>
              <a:rPr lang="es-CL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 de julio 2025, Santiago, Chile</a:t>
            </a:r>
          </a:p>
        </p:txBody>
      </p:sp>
      <p:pic>
        <p:nvPicPr>
          <p:cNvPr id="1026" name="Picture 2" descr="Eugcom.cl">
            <a:extLst>
              <a:ext uri="{FF2B5EF4-FFF2-40B4-BE49-F238E27FC236}">
                <a16:creationId xmlns:a16="http://schemas.microsoft.com/office/drawing/2014/main" id="{1A5134F6-63AD-D538-123F-83B414CEE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3912" y="2109289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302B8B71-12EA-7A2F-E011-455093C59A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5048AF5F-2FDD-CFBB-9B69-DED9752B16E7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201049-525A-EFBE-17E9-98FA96CEA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s-CL" dirty="0"/>
              <a:t>Contenido</a:t>
            </a:r>
            <a:endParaRPr lang="es-419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3AB59-720C-9027-2EFF-B0DA00411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dirty="0" err="1"/>
              <a:t>Propueta</a:t>
            </a:r>
            <a:r>
              <a:rPr lang="es-CL" dirty="0"/>
              <a:t> de solución e incremento </a:t>
            </a:r>
            <a:r>
              <a:rPr lang="es-CL" dirty="0" err="1"/>
              <a:t>cap</a:t>
            </a:r>
            <a:r>
              <a:rPr lang="es-CL" dirty="0"/>
              <a:t> 2</a:t>
            </a:r>
          </a:p>
          <a:p>
            <a:r>
              <a:rPr lang="es-CL" dirty="0" err="1"/>
              <a:t>Product</a:t>
            </a:r>
            <a:r>
              <a:rPr lang="es-CL" dirty="0"/>
              <a:t> Backlog </a:t>
            </a:r>
            <a:r>
              <a:rPr lang="es-CL" dirty="0" err="1"/>
              <a:t>cap</a:t>
            </a:r>
            <a:r>
              <a:rPr lang="es-CL" dirty="0"/>
              <a:t> 3</a:t>
            </a:r>
          </a:p>
          <a:p>
            <a:r>
              <a:rPr lang="es-CL" dirty="0"/>
              <a:t>Spring Backlog – vista externa </a:t>
            </a:r>
            <a:r>
              <a:rPr lang="es-CL" dirty="0" err="1"/>
              <a:t>cap</a:t>
            </a:r>
            <a:r>
              <a:rPr lang="es-CL" dirty="0"/>
              <a:t> 4</a:t>
            </a:r>
          </a:p>
          <a:p>
            <a:r>
              <a:rPr lang="es-CL" dirty="0"/>
              <a:t>Sprint vistas </a:t>
            </a:r>
            <a:r>
              <a:rPr lang="es-CL" dirty="0" err="1"/>
              <a:t>cap</a:t>
            </a:r>
            <a:r>
              <a:rPr lang="es-CL" dirty="0"/>
              <a:t> 5</a:t>
            </a:r>
          </a:p>
          <a:p>
            <a:r>
              <a:rPr lang="es-CL" dirty="0"/>
              <a:t>Manual de instalación </a:t>
            </a:r>
            <a:r>
              <a:rPr lang="es-CL" dirty="0" err="1"/>
              <a:t>cap</a:t>
            </a:r>
            <a:r>
              <a:rPr lang="es-CL" dirty="0"/>
              <a:t> 6</a:t>
            </a:r>
          </a:p>
          <a:p>
            <a:r>
              <a:rPr lang="es-CL" dirty="0"/>
              <a:t>Pruebas de sistema </a:t>
            </a:r>
            <a:r>
              <a:rPr lang="es-CL" dirty="0" err="1"/>
              <a:t>cap</a:t>
            </a:r>
            <a:r>
              <a:rPr lang="es-CL" dirty="0"/>
              <a:t> 8</a:t>
            </a:r>
          </a:p>
          <a:p>
            <a:r>
              <a:rPr lang="es-CL" dirty="0"/>
              <a:t>Sprint </a:t>
            </a:r>
            <a:r>
              <a:rPr lang="es-CL" dirty="0" err="1"/>
              <a:t>review</a:t>
            </a:r>
            <a:r>
              <a:rPr lang="es-CL" dirty="0"/>
              <a:t> </a:t>
            </a:r>
            <a:r>
              <a:rPr lang="es-CL" dirty="0" err="1"/>
              <a:t>cap</a:t>
            </a:r>
            <a:r>
              <a:rPr lang="es-CL" dirty="0"/>
              <a:t> 9</a:t>
            </a:r>
            <a:endParaRPr lang="es-419" dirty="0"/>
          </a:p>
        </p:txBody>
      </p:sp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5D6F4134-7607-6C7D-2222-FB92B2416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F6507B64-5A81-FB6C-8D05-A99B6B04C708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426629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5F7E3B-C5F1-40E0-A491-558BAFBC1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181353" y="1460500"/>
            <a:ext cx="0" cy="3937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16638"/>
            <a:ext cx="2525519" cy="5224724"/>
          </a:xfrm>
        </p:spPr>
        <p:txBody>
          <a:bodyPr anchor="ctr">
            <a:normAutofit/>
          </a:bodyPr>
          <a:lstStyle/>
          <a:p>
            <a:r>
              <a:rPr lang="es-419" sz="3100"/>
              <a:t>Introducción</a:t>
            </a:r>
          </a:p>
        </p:txBody>
      </p:sp>
      <p:pic>
        <p:nvPicPr>
          <p:cNvPr id="2050" name="Picture 2" descr="Eugcom.cl">
            <a:extLst>
              <a:ext uri="{FF2B5EF4-FFF2-40B4-BE49-F238E27FC236}">
                <a16:creationId xmlns:a16="http://schemas.microsoft.com/office/drawing/2014/main" id="{C0266102-3B0E-0219-8D0E-8DE1573456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17248" y="1793621"/>
            <a:ext cx="3558159" cy="35581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C70E0802-FC6F-03A3-0433-5D562B5C5A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4073D3EE-FB46-7743-A009-8609A8BF3875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A65AC7D1-EAA9-48F5-B509-60A7F50BF7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3081" name="Rectangle 3080">
            <a:extLst>
              <a:ext uri="{FF2B5EF4-FFF2-40B4-BE49-F238E27FC236}">
                <a16:creationId xmlns:a16="http://schemas.microsoft.com/office/drawing/2014/main" id="{D6320AF9-619A-4175-865B-5663E1AEF4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83" name="Straight Connector 3082">
            <a:extLst>
              <a:ext uri="{FF2B5EF4-FFF2-40B4-BE49-F238E27FC236}">
                <a16:creationId xmlns:a16="http://schemas.microsoft.com/office/drawing/2014/main" id="{063B6EC6-D752-4EE7-908B-F8F19E8C7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33484" y="0"/>
            <a:ext cx="9144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5" name="Straight Connector 3084">
            <a:extLst>
              <a:ext uri="{FF2B5EF4-FFF2-40B4-BE49-F238E27FC236}">
                <a16:creationId xmlns:a16="http://schemas.microsoft.com/office/drawing/2014/main" id="{EFECD4E8-AD3E-4228-82A2-9461958EA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2468234" y="3681413"/>
            <a:ext cx="357266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7" name="Rectangle 23">
            <a:extLst>
              <a:ext uri="{FF2B5EF4-FFF2-40B4-BE49-F238E27FC236}">
                <a16:creationId xmlns:a16="http://schemas.microsoft.com/office/drawing/2014/main" id="{7E018740-5C2B-4A41-AC1A-7E68D1EC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61926" y="-8467"/>
            <a:ext cx="2255511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89" name="Rectangle 25">
            <a:extLst>
              <a:ext uri="{FF2B5EF4-FFF2-40B4-BE49-F238E27FC236}">
                <a16:creationId xmlns:a16="http://schemas.microsoft.com/office/drawing/2014/main" id="{166F75A4-C475-4941-8EE2-B80A06A2C1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78400" y="-8467"/>
            <a:ext cx="1941419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1" name="Isosceles Triangle 3090">
            <a:extLst>
              <a:ext uri="{FF2B5EF4-FFF2-40B4-BE49-F238E27FC236}">
                <a16:creationId xmlns:a16="http://schemas.microsoft.com/office/drawing/2014/main" id="{A032553A-72E8-4B0D-8405-FF9771C9AF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068" y="3048000"/>
            <a:ext cx="2444751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3" name="Rectangle 27">
            <a:extLst>
              <a:ext uri="{FF2B5EF4-FFF2-40B4-BE49-F238E27FC236}">
                <a16:creationId xmlns:a16="http://schemas.microsoft.com/office/drawing/2014/main" id="{765800AC-C3B9-498E-87BC-29FAE4C76B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6694" y="-8467"/>
            <a:ext cx="2140744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5" name="Isosceles Triangle 3094">
            <a:extLst>
              <a:ext uri="{FF2B5EF4-FFF2-40B4-BE49-F238E27FC236}">
                <a16:creationId xmlns:a16="http://schemas.microsoft.com/office/drawing/2014/main" id="{1F9D6ACB-2FF4-49F9-978A-E0D5327FC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54568" y="3589867"/>
            <a:ext cx="136286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419"/>
          </a:p>
        </p:txBody>
      </p:sp>
      <p:sp>
        <p:nvSpPr>
          <p:cNvPr id="3097" name="Freeform: Shape 3096">
            <a:extLst>
              <a:ext uri="{FF2B5EF4-FFF2-40B4-BE49-F238E27FC236}">
                <a16:creationId xmlns:a16="http://schemas.microsoft.com/office/drawing/2014/main" id="{A5EC319D-0FEA-4B95-A3EA-01E35672C9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48223" y="-8467"/>
            <a:ext cx="4495777" cy="6866467"/>
          </a:xfrm>
          <a:custGeom>
            <a:avLst/>
            <a:gdLst>
              <a:gd name="connsiteX0" fmla="*/ 0 w 5994369"/>
              <a:gd name="connsiteY0" fmla="*/ 0 h 6866467"/>
              <a:gd name="connsiteX1" fmla="*/ 1249825 w 5994369"/>
              <a:gd name="connsiteY1" fmla="*/ 0 h 6866467"/>
              <a:gd name="connsiteX2" fmla="*/ 1249825 w 5994369"/>
              <a:gd name="connsiteY2" fmla="*/ 8467 h 6866467"/>
              <a:gd name="connsiteX3" fmla="*/ 5994369 w 5994369"/>
              <a:gd name="connsiteY3" fmla="*/ 8467 h 6866467"/>
              <a:gd name="connsiteX4" fmla="*/ 5994369 w 5994369"/>
              <a:gd name="connsiteY4" fmla="*/ 6866467 h 6866467"/>
              <a:gd name="connsiteX5" fmla="*/ 1249825 w 5994369"/>
              <a:gd name="connsiteY5" fmla="*/ 6866467 h 6866467"/>
              <a:gd name="connsiteX6" fmla="*/ 1109382 w 5994369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94369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5994369" y="8467"/>
                </a:lnTo>
                <a:lnTo>
                  <a:pt x="5994369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3938" y="747902"/>
            <a:ext cx="3384742" cy="2227730"/>
          </a:xfrm>
        </p:spPr>
        <p:txBody>
          <a:bodyPr anchor="ctr">
            <a:normAutofit/>
          </a:bodyPr>
          <a:lstStyle/>
          <a:p>
            <a:r>
              <a:rPr lang="es-419" dirty="0">
                <a:solidFill>
                  <a:srgbClr val="FFFFFF"/>
                </a:solidFill>
              </a:rPr>
              <a:t>Arquitectura y Tecnologías</a:t>
            </a:r>
          </a:p>
        </p:txBody>
      </p:sp>
      <p:pic>
        <p:nvPicPr>
          <p:cNvPr id="3074" name="Picture 2" descr="Eugcom.cl">
            <a:extLst>
              <a:ext uri="{FF2B5EF4-FFF2-40B4-BE49-F238E27FC236}">
                <a16:creationId xmlns:a16="http://schemas.microsoft.com/office/drawing/2014/main" id="{1FCDACF4-9DE4-54CC-3E91-330CC3CFB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67938" y="2027159"/>
            <a:ext cx="2892580" cy="289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86293" y="2837329"/>
            <a:ext cx="3384741" cy="3317938"/>
          </a:xfrm>
        </p:spPr>
        <p:txBody>
          <a:bodyPr anchor="t">
            <a:normAutofit/>
          </a:bodyPr>
          <a:lstStyle/>
          <a:p>
            <a:r>
              <a:rPr lang="es-419">
                <a:solidFill>
                  <a:srgbClr val="FFFFFF"/>
                </a:solidFill>
              </a:rPr>
              <a:t>Cliente-Servidor en capas</a:t>
            </a:r>
          </a:p>
          <a:p>
            <a:r>
              <a:rPr lang="es-419">
                <a:solidFill>
                  <a:srgbClr val="FFFFFF"/>
                </a:solidFill>
              </a:rPr>
              <a:t>Backend: PHP 7.4, MySQL/MariaDB, Apache</a:t>
            </a:r>
          </a:p>
          <a:p>
            <a:r>
              <a:rPr lang="es-419">
                <a:solidFill>
                  <a:srgbClr val="FFFFFF"/>
                </a:solidFill>
              </a:rPr>
              <a:t>Frontend: HTML, CSS, JS, Bootstrap</a:t>
            </a:r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90126ADB-2F42-1B24-FFC7-F28454A45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BD5D5C14-F4B4-60CA-B59D-EB1285040D2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Incremento</a:t>
            </a:r>
            <a:r>
              <a:rPr dirty="0"/>
              <a:t>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15 Casos de use implementors</a:t>
            </a:r>
          </a:p>
          <a:p>
            <a:r>
              <a:rPr dirty="0"/>
              <a:t>Coverture: 23% del total</a:t>
            </a:r>
          </a:p>
        </p:txBody>
      </p:sp>
      <p:pic>
        <p:nvPicPr>
          <p:cNvPr id="5122" name="Picture 2" descr="Eugcom.cl">
            <a:extLst>
              <a:ext uri="{FF2B5EF4-FFF2-40B4-BE49-F238E27FC236}">
                <a16:creationId xmlns:a16="http://schemas.microsoft.com/office/drawing/2014/main" id="{A885034D-6C2B-A637-D369-702DE63D6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6737" y="2000250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8BD77CFB-3993-6C0B-FA07-AB7C7EB4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61DE81A-45F7-200E-7D4C-526F894A047A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 Backlog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Requerimientos priorizados</a:t>
            </a:r>
          </a:p>
          <a:p>
            <a:r>
              <a:t>Historias de usuario con prioridad y esfuerzo</a:t>
            </a:r>
          </a:p>
          <a:p>
            <a:r>
              <a:t>Todos los casos completados</a:t>
            </a:r>
          </a:p>
        </p:txBody>
      </p:sp>
      <p:pic>
        <p:nvPicPr>
          <p:cNvPr id="4098" name="Picture 2" descr="Eugcom.cl">
            <a:extLst>
              <a:ext uri="{FF2B5EF4-FFF2-40B4-BE49-F238E27FC236}">
                <a16:creationId xmlns:a16="http://schemas.microsoft.com/office/drawing/2014/main" id="{24113999-E8D1-2823-83E5-88CD888A47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9889" y="2303145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0E724577-C7ED-D709-6227-5098340E9F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9133947F-F4B6-95E7-6D53-33DF76D183C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5" name="Group 7174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9144001" cy="6866467"/>
            <a:chOff x="0" y="-8467"/>
            <a:chExt cx="12192000" cy="6866467"/>
          </a:xfrm>
        </p:grpSpPr>
        <p:cxnSp>
          <p:nvCxnSpPr>
            <p:cNvPr id="7176" name="Straight Connector 7175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77" name="Straight Connector 7176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178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79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0" name="Isosceles Triangle 7179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1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2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3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4" name="Isosceles Triangle 7183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  <p:sp>
          <p:nvSpPr>
            <p:cNvPr id="7185" name="Isosceles Triangle 7184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419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9831" y="404865"/>
            <a:ext cx="5755351" cy="1087656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Sprint Backlog y Casos de Uso</a:t>
            </a:r>
          </a:p>
        </p:txBody>
      </p:sp>
      <p:pic>
        <p:nvPicPr>
          <p:cNvPr id="3" name="Picture 1133264378">
            <a:extLst>
              <a:ext uri="{FF2B5EF4-FFF2-40B4-BE49-F238E27FC236}">
                <a16:creationId xmlns:a16="http://schemas.microsoft.com/office/drawing/2014/main" id="{BF25E99F-38C9-7B7B-D7D4-D9287267455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39" y="1605491"/>
            <a:ext cx="5981065" cy="1819275"/>
          </a:xfrm>
          <a:prstGeom prst="rect">
            <a:avLst/>
          </a:prstGeom>
        </p:spPr>
      </p:pic>
      <p:pic>
        <p:nvPicPr>
          <p:cNvPr id="4" name="Picture 1582867906">
            <a:extLst>
              <a:ext uri="{FF2B5EF4-FFF2-40B4-BE49-F238E27FC236}">
                <a16:creationId xmlns:a16="http://schemas.microsoft.com/office/drawing/2014/main" id="{84510837-59D6-6ACA-DCBF-4699D80EAEC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40" y="3433233"/>
            <a:ext cx="5981065" cy="1657350"/>
          </a:xfrm>
          <a:prstGeom prst="rect">
            <a:avLst/>
          </a:prstGeom>
        </p:spPr>
      </p:pic>
      <p:pic>
        <p:nvPicPr>
          <p:cNvPr id="5" name="Picture 1293869529" title="Insertando imagen...">
            <a:extLst>
              <a:ext uri="{FF2B5EF4-FFF2-40B4-BE49-F238E27FC236}">
                <a16:creationId xmlns:a16="http://schemas.microsoft.com/office/drawing/2014/main" id="{5F425461-4A90-FA81-59F8-A952701A031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1340" y="5090583"/>
            <a:ext cx="5981065" cy="1571625"/>
          </a:xfrm>
          <a:prstGeom prst="rect">
            <a:avLst/>
          </a:prstGeom>
        </p:spPr>
      </p:pic>
      <p:pic>
        <p:nvPicPr>
          <p:cNvPr id="6" name="Imagen 5" descr="Icono&#10;&#10;El contenido generado por IA puede ser incorrecto.">
            <a:extLst>
              <a:ext uri="{FF2B5EF4-FFF2-40B4-BE49-F238E27FC236}">
                <a16:creationId xmlns:a16="http://schemas.microsoft.com/office/drawing/2014/main" id="{7E82DFEA-5661-2971-A2D6-ADD2080ED4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34D1221-90B6-ECD5-D382-44BD2760117E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F56B3A-F8F8-2E60-35B6-CB5D0E7FB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03" y="248031"/>
            <a:ext cx="6347713" cy="567944"/>
          </a:xfrm>
        </p:spPr>
        <p:txBody>
          <a:bodyPr>
            <a:normAutofit fontScale="90000"/>
          </a:bodyPr>
          <a:lstStyle/>
          <a:p>
            <a:r>
              <a:rPr lang="en-US" dirty="0"/>
              <a:t>Vista </a:t>
            </a:r>
            <a:r>
              <a:rPr lang="en-US" dirty="0" err="1"/>
              <a:t>logica</a:t>
            </a:r>
            <a:r>
              <a:rPr lang="en-US" dirty="0"/>
              <a:t>: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clases</a:t>
            </a:r>
            <a:endParaRPr lang="es-419" dirty="0"/>
          </a:p>
        </p:txBody>
      </p:sp>
      <p:pic>
        <p:nvPicPr>
          <p:cNvPr id="3074" name="Picture 2" descr="Diagrama, Esquemático&#10;&#10;El contenido generado por IA puede ser incorrecto., Imagen">
            <a:extLst>
              <a:ext uri="{FF2B5EF4-FFF2-40B4-BE49-F238E27FC236}">
                <a16:creationId xmlns:a16="http://schemas.microsoft.com/office/drawing/2014/main" id="{E64F9E9B-AC39-9DB7-6128-2D9E91C2988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539" y="960120"/>
            <a:ext cx="6714925" cy="5056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FC80B707-FB6C-E691-571F-4F23B198A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42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13BF8A-1C44-4905-5A4B-ED78D026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L" dirty="0"/>
              <a:t>DIAGRAMA DE COMPONENTES</a:t>
            </a:r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14F267B6-D12B-6CB6-9B7E-D3A4BEC07A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21" y="1807899"/>
            <a:ext cx="8355933" cy="311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023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04868-6B6C-BC5F-4E76-EB6B6528B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Vista Externa: Caso de Uso</a:t>
            </a:r>
            <a:endParaRPr lang="es-419" dirty="0"/>
          </a:p>
        </p:txBody>
      </p:sp>
      <p:pic>
        <p:nvPicPr>
          <p:cNvPr id="2050" name="Picture 2" descr="Interfaz de usuario gráfica, Texto&#10;&#10;El contenido generado por IA puede ser incorrecto., Imagen">
            <a:extLst>
              <a:ext uri="{FF2B5EF4-FFF2-40B4-BE49-F238E27FC236}">
                <a16:creationId xmlns:a16="http://schemas.microsoft.com/office/drawing/2014/main" id="{05EE198D-28BE-CDE3-15EA-95DCED10116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5075" y="1513246"/>
            <a:ext cx="5377487" cy="4735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Icono&#10;&#10;El contenido generado por IA puede ser incorrecto.">
            <a:extLst>
              <a:ext uri="{FF2B5EF4-FFF2-40B4-BE49-F238E27FC236}">
                <a16:creationId xmlns:a16="http://schemas.microsoft.com/office/drawing/2014/main" id="{509AC30C-D0A8-D9E2-7C1A-929CC29B8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5883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54F04-618E-965B-2846-4882C9D27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641" y="717874"/>
            <a:ext cx="7213175" cy="693369"/>
          </a:xfrm>
        </p:spPr>
        <p:txBody>
          <a:bodyPr>
            <a:normAutofit/>
          </a:bodyPr>
          <a:lstStyle/>
          <a:p>
            <a:r>
              <a:rPr lang="en-US" sz="2800" dirty="0"/>
              <a:t>Vista de </a:t>
            </a:r>
            <a:r>
              <a:rPr lang="en-US" sz="2800" dirty="0" err="1"/>
              <a:t>proceso</a:t>
            </a:r>
            <a:r>
              <a:rPr lang="en-US" sz="2800" dirty="0"/>
              <a:t>: Diagrama de secuencia</a:t>
            </a:r>
            <a:endParaRPr lang="es-419" sz="2800" dirty="0"/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768D85AC-06F1-D3FA-5E79-A67D511C0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pic>
        <p:nvPicPr>
          <p:cNvPr id="1028" name="Picture 4" descr="Gráfico&#10;&#10;El contenido generado por IA puede ser incorrecto., Imagen">
            <a:extLst>
              <a:ext uri="{FF2B5EF4-FFF2-40B4-BE49-F238E27FC236}">
                <a16:creationId xmlns:a16="http://schemas.microsoft.com/office/drawing/2014/main" id="{5FF214F3-A005-2639-1828-5FF03B40E5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641" y="1746480"/>
            <a:ext cx="7462060" cy="3569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43530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Sprint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Revisión</a:t>
            </a:r>
            <a:r>
              <a:rPr dirty="0"/>
              <a:t> del backlog</a:t>
            </a:r>
          </a:p>
          <a:p>
            <a:r>
              <a:rPr dirty="0" err="1"/>
              <a:t>Esfuerzo</a:t>
            </a:r>
            <a:r>
              <a:rPr dirty="0"/>
              <a:t> y </a:t>
            </a:r>
            <a:r>
              <a:rPr dirty="0" err="1"/>
              <a:t>gráficos</a:t>
            </a:r>
            <a:r>
              <a:rPr dirty="0"/>
              <a:t> Burn Down / Up</a:t>
            </a:r>
            <a:endParaRPr lang="es-419" dirty="0"/>
          </a:p>
          <a:p>
            <a:r>
              <a:rPr lang="es-MX" dirty="0"/>
              <a:t>Retrospectiva y plan de mejora</a:t>
            </a:r>
          </a:p>
        </p:txBody>
      </p:sp>
      <p:pic>
        <p:nvPicPr>
          <p:cNvPr id="4" name="Imagen 3" descr="Icono&#10;&#10;El contenido generado por IA puede ser incorrecto.">
            <a:extLst>
              <a:ext uri="{FF2B5EF4-FFF2-40B4-BE49-F238E27FC236}">
                <a16:creationId xmlns:a16="http://schemas.microsoft.com/office/drawing/2014/main" id="{7E95CBF5-1D15-4771-FB3D-1B072A590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085B140E-1F3B-D7ED-F545-98149D4F7EE0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Eugcom.cl">
            <a:extLst>
              <a:ext uri="{FF2B5EF4-FFF2-40B4-BE49-F238E27FC236}">
                <a16:creationId xmlns:a16="http://schemas.microsoft.com/office/drawing/2014/main" id="{0EBB4875-EECF-EB50-E9E8-417DAAA6CE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496025"/>
            <a:ext cx="1137067" cy="11370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Imagen 1" descr="Icono&#10;&#10;El contenido generado por IA puede ser incorrecto.">
            <a:extLst>
              <a:ext uri="{FF2B5EF4-FFF2-40B4-BE49-F238E27FC236}">
                <a16:creationId xmlns:a16="http://schemas.microsoft.com/office/drawing/2014/main" id="{13A16D1E-B79C-59E6-3509-36C1EF773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292" y="108352"/>
            <a:ext cx="1137067" cy="95620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9E2A5CF1-1DFC-01EA-A935-69784121A3B6}"/>
              </a:ext>
            </a:extLst>
          </p:cNvPr>
          <p:cNvSpPr txBox="1"/>
          <p:nvPr/>
        </p:nvSpPr>
        <p:spPr>
          <a:xfrm>
            <a:off x="7693921" y="1064559"/>
            <a:ext cx="136004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800" dirty="0"/>
              <a:t>Facultad de ingeniería</a:t>
            </a:r>
          </a:p>
          <a:p>
            <a:r>
              <a:rPr lang="es-CL" sz="800" dirty="0"/>
              <a:t>Ingeniería de software I</a:t>
            </a:r>
          </a:p>
          <a:p>
            <a:endParaRPr lang="es-CL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9B1E5721-C00A-0D24-A767-89FFED888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297936"/>
            <a:ext cx="6347714" cy="1320800"/>
          </a:xfrm>
        </p:spPr>
        <p:txBody>
          <a:bodyPr/>
          <a:lstStyle/>
          <a:p>
            <a:r>
              <a:rPr lang="en-US" dirty="0"/>
              <a:t>A Continuaci</a:t>
            </a:r>
            <a:r>
              <a:rPr lang="es-CL" dirty="0"/>
              <a:t>ó</a:t>
            </a:r>
            <a:r>
              <a:rPr lang="en-US" dirty="0"/>
              <a:t>n una Demo…</a:t>
            </a:r>
            <a:endParaRPr lang="es-419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ceta">
  <a:themeElements>
    <a:clrScheme name="Faceta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a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a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TM02900688[[fn=Faceta]]</Template>
  <TotalTime>503</TotalTime>
  <Words>263</Words>
  <Application>Microsoft Office PowerPoint</Application>
  <PresentationFormat>Presentación en pantalla (4:3)</PresentationFormat>
  <Paragraphs>63</Paragraphs>
  <Slides>13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9" baseType="lpstr">
      <vt:lpstr>Aptos</vt:lpstr>
      <vt:lpstr>Arial</vt:lpstr>
      <vt:lpstr>Times New Roman</vt:lpstr>
      <vt:lpstr>Trebuchet MS</vt:lpstr>
      <vt:lpstr>Wingdings 3</vt:lpstr>
      <vt:lpstr>Faceta</vt:lpstr>
      <vt:lpstr>PROYECTO INGENIERÍA DE SOFTWARE PRIMER INCREMENTO PARA EL SISTEMA BIOMÉTRICO WEB EUGCOM</vt:lpstr>
      <vt:lpstr>Contenido</vt:lpstr>
      <vt:lpstr>Introducción</vt:lpstr>
      <vt:lpstr>Arquitectura y Tecnologías</vt:lpstr>
      <vt:lpstr>Incremento 1</vt:lpstr>
      <vt:lpstr>Product Backlog</vt:lpstr>
      <vt:lpstr>Sprint Backlog y Casos de Uso</vt:lpstr>
      <vt:lpstr>Vista logica: diagrama de clases</vt:lpstr>
      <vt:lpstr>DIAGRAMA DE COMPONENTES</vt:lpstr>
      <vt:lpstr>Vista Externa: Caso de Uso</vt:lpstr>
      <vt:lpstr>Vista de proceso: Diagrama de secuencia</vt:lpstr>
      <vt:lpstr>Sprint Review</vt:lpstr>
      <vt:lpstr>A Continuación una Demo…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Benja</dc:creator>
  <cp:keywords/>
  <dc:description>generated using python-pptx</dc:description>
  <cp:lastModifiedBy>Addan saez</cp:lastModifiedBy>
  <cp:revision>13</cp:revision>
  <dcterms:created xsi:type="dcterms:W3CDTF">2013-01-27T09:14:16Z</dcterms:created>
  <dcterms:modified xsi:type="dcterms:W3CDTF">2025-08-18T22:30:17Z</dcterms:modified>
  <cp:category/>
</cp:coreProperties>
</file>