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5" r:id="rId1"/>
  </p:sldMasterIdLst>
  <p:notesMasterIdLst>
    <p:notesMasterId r:id="rId14"/>
  </p:notes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70" r:id="rId9"/>
    <p:sldId id="269" r:id="rId10"/>
    <p:sldId id="268" r:id="rId11"/>
    <p:sldId id="265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824AA8-F311-4ABC-8748-4A852C5A6ECD}" type="datetimeFigureOut">
              <a:rPr lang="es-419" smtClean="0"/>
              <a:t>23/6/2025</a:t>
            </a:fld>
            <a:endParaRPr lang="es-419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419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972E5D-85DF-4E89-91D5-2C34C2EE1B60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025292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72E5D-85DF-4E89-91D5-2C34C2EE1B60}" type="slidenum">
              <a:rPr lang="es-419" smtClean="0"/>
              <a:t>1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199608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433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014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422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085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317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288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149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720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655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601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394506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0719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695215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1464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2274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437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308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s-CL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PROYECTO INGENIERÍA DE SOFTWARE PRIMER INCREMENTO PARA EL SISTEMA BIOMÉTRICO WEB EUGCOM</a:t>
            </a:r>
            <a:endParaRPr lang="es-CL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6232" y="2905271"/>
            <a:ext cx="6347714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L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Integrantes:</a:t>
            </a:r>
          </a:p>
          <a:p>
            <a:pPr marL="0" indent="0">
              <a:buNone/>
            </a:pPr>
            <a:r>
              <a:rPr lang="es-C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Addan Ignacio Sáez Rodríguez</a:t>
            </a:r>
          </a:p>
          <a:p>
            <a:pPr marL="0" indent="0">
              <a:buNone/>
            </a:pPr>
            <a:r>
              <a:rPr lang="es-C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Diego Yves Amaro Veliz Riquelme</a:t>
            </a:r>
          </a:p>
          <a:p>
            <a:pPr marL="0" indent="0">
              <a:buNone/>
            </a:pPr>
            <a:r>
              <a:rPr lang="es-C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Vicente Ignacio Henríquez Cortes</a:t>
            </a:r>
          </a:p>
          <a:p>
            <a:pPr marL="0" indent="0">
              <a:buNone/>
            </a:pPr>
            <a:r>
              <a:rPr lang="es-C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Catalina Vidal Gallarda</a:t>
            </a:r>
          </a:p>
          <a:p>
            <a:pPr marL="0" indent="0">
              <a:buNone/>
            </a:pPr>
            <a:r>
              <a:rPr lang="es-C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Felipe Andrés Uribe del pino</a:t>
            </a:r>
          </a:p>
          <a:p>
            <a:pPr marL="0" indent="0">
              <a:buNone/>
            </a:pPr>
            <a:r>
              <a:rPr lang="es-C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Benjamin Alberto Franco Silva</a:t>
            </a:r>
          </a:p>
          <a:p>
            <a:pPr marL="0" indent="0">
              <a:buNone/>
            </a:pPr>
            <a:endParaRPr lang="es-CL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sz="1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Profesor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s-E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s-C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Paulo Luis Francisco </a:t>
            </a:r>
            <a:r>
              <a:rPr lang="es-CL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Quinsacara</a:t>
            </a:r>
            <a:r>
              <a:rPr lang="es-C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Jofré</a:t>
            </a:r>
          </a:p>
          <a:p>
            <a:pPr marL="0" indent="0">
              <a:buNone/>
            </a:pPr>
            <a:endParaRPr lang="es-E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s-CL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Fecha</a:t>
            </a:r>
            <a:r>
              <a:rPr lang="es-C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indent="0">
              <a:buNone/>
            </a:pPr>
            <a:r>
              <a:rPr lang="es-C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 de julio 2025, Santiago, Chile</a:t>
            </a:r>
          </a:p>
        </p:txBody>
      </p:sp>
      <p:pic>
        <p:nvPicPr>
          <p:cNvPr id="1026" name="Picture 2" descr="Eugcom.cl">
            <a:extLst>
              <a:ext uri="{FF2B5EF4-FFF2-40B4-BE49-F238E27FC236}">
                <a16:creationId xmlns:a16="http://schemas.microsoft.com/office/drawing/2014/main" id="{1A5134F6-63AD-D538-123F-83B414CEEC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3912" y="2109289"/>
            <a:ext cx="14287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 descr="Icono&#10;&#10;El contenido generado por IA puede ser incorrecto.">
            <a:extLst>
              <a:ext uri="{FF2B5EF4-FFF2-40B4-BE49-F238E27FC236}">
                <a16:creationId xmlns:a16="http://schemas.microsoft.com/office/drawing/2014/main" id="{302B8B71-12EA-7A2F-E011-455093C59A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4292" y="108352"/>
            <a:ext cx="1137067" cy="956207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5048AF5F-2FDD-CFBB-9B69-DED9752B16E7}"/>
              </a:ext>
            </a:extLst>
          </p:cNvPr>
          <p:cNvSpPr txBox="1"/>
          <p:nvPr/>
        </p:nvSpPr>
        <p:spPr>
          <a:xfrm>
            <a:off x="7693921" y="1064559"/>
            <a:ext cx="136004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800" dirty="0"/>
              <a:t>Facultad de ingeniería</a:t>
            </a:r>
          </a:p>
          <a:p>
            <a:r>
              <a:rPr lang="es-CL" sz="800" dirty="0"/>
              <a:t>Ingeniería de software I</a:t>
            </a:r>
          </a:p>
          <a:p>
            <a:endParaRPr lang="es-CL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201049-525A-EFBE-17E9-98FA96CEA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L" dirty="0"/>
              <a:t>Contenido</a:t>
            </a:r>
            <a:endParaRPr lang="es-419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43AB59-720C-9027-2EFF-B0DA00411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 err="1"/>
              <a:t>Propueta</a:t>
            </a:r>
            <a:r>
              <a:rPr lang="es-CL" dirty="0"/>
              <a:t> de solución e incremento </a:t>
            </a:r>
            <a:r>
              <a:rPr lang="es-CL" dirty="0" err="1"/>
              <a:t>cap</a:t>
            </a:r>
            <a:r>
              <a:rPr lang="es-CL" dirty="0"/>
              <a:t> 2</a:t>
            </a:r>
          </a:p>
          <a:p>
            <a:r>
              <a:rPr lang="es-CL" dirty="0" err="1"/>
              <a:t>Product</a:t>
            </a:r>
            <a:r>
              <a:rPr lang="es-CL" dirty="0"/>
              <a:t> Backlog </a:t>
            </a:r>
            <a:r>
              <a:rPr lang="es-CL" dirty="0" err="1"/>
              <a:t>cap</a:t>
            </a:r>
            <a:r>
              <a:rPr lang="es-CL" dirty="0"/>
              <a:t> 3</a:t>
            </a:r>
          </a:p>
          <a:p>
            <a:r>
              <a:rPr lang="es-CL" dirty="0"/>
              <a:t>Spring Backlog – vista externa </a:t>
            </a:r>
            <a:r>
              <a:rPr lang="es-CL" dirty="0" err="1"/>
              <a:t>cap</a:t>
            </a:r>
            <a:r>
              <a:rPr lang="es-CL" dirty="0"/>
              <a:t> 4</a:t>
            </a:r>
          </a:p>
          <a:p>
            <a:r>
              <a:rPr lang="es-CL" dirty="0"/>
              <a:t>Sprint vistas </a:t>
            </a:r>
            <a:r>
              <a:rPr lang="es-CL" dirty="0" err="1"/>
              <a:t>cap</a:t>
            </a:r>
            <a:r>
              <a:rPr lang="es-CL" dirty="0"/>
              <a:t> 5</a:t>
            </a:r>
          </a:p>
          <a:p>
            <a:r>
              <a:rPr lang="es-CL" dirty="0"/>
              <a:t>Manual de instalación </a:t>
            </a:r>
            <a:r>
              <a:rPr lang="es-CL" dirty="0" err="1"/>
              <a:t>cap</a:t>
            </a:r>
            <a:r>
              <a:rPr lang="es-CL" dirty="0"/>
              <a:t> 6</a:t>
            </a:r>
          </a:p>
          <a:p>
            <a:r>
              <a:rPr lang="es-CL" dirty="0"/>
              <a:t>Pruebas de sistema </a:t>
            </a:r>
            <a:r>
              <a:rPr lang="es-CL" dirty="0" err="1"/>
              <a:t>cap</a:t>
            </a:r>
            <a:r>
              <a:rPr lang="es-CL" dirty="0"/>
              <a:t> 8</a:t>
            </a:r>
          </a:p>
          <a:p>
            <a:r>
              <a:rPr lang="es-CL" dirty="0"/>
              <a:t>Sprint </a:t>
            </a:r>
            <a:r>
              <a:rPr lang="es-CL" dirty="0" err="1"/>
              <a:t>review</a:t>
            </a:r>
            <a:r>
              <a:rPr lang="es-CL" dirty="0"/>
              <a:t> </a:t>
            </a:r>
            <a:r>
              <a:rPr lang="es-CL" dirty="0" err="1"/>
              <a:t>cap</a:t>
            </a:r>
            <a:r>
              <a:rPr lang="es-CL" dirty="0"/>
              <a:t> 9</a:t>
            </a:r>
            <a:endParaRPr lang="es-419" dirty="0"/>
          </a:p>
        </p:txBody>
      </p:sp>
      <p:pic>
        <p:nvPicPr>
          <p:cNvPr id="6" name="Imagen 5" descr="Icono&#10;&#10;El contenido generado por IA puede ser incorrecto.">
            <a:extLst>
              <a:ext uri="{FF2B5EF4-FFF2-40B4-BE49-F238E27FC236}">
                <a16:creationId xmlns:a16="http://schemas.microsoft.com/office/drawing/2014/main" id="{5D6F4134-7607-6C7D-2222-FB92B2416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4292" y="108352"/>
            <a:ext cx="1137067" cy="956207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F6507B64-5A81-FB6C-8D05-A99B6B04C708}"/>
              </a:ext>
            </a:extLst>
          </p:cNvPr>
          <p:cNvSpPr txBox="1"/>
          <p:nvPr/>
        </p:nvSpPr>
        <p:spPr>
          <a:xfrm>
            <a:off x="7693921" y="1064559"/>
            <a:ext cx="136004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800" dirty="0"/>
              <a:t>Facultad de ingeniería</a:t>
            </a:r>
          </a:p>
          <a:p>
            <a:r>
              <a:rPr lang="es-CL" sz="800" dirty="0"/>
              <a:t>Ingeniería de software I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426629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F7E3B-C5F1-40E0-A491-558BAFBC1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181353" y="1460500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816638"/>
            <a:ext cx="2525519" cy="5224724"/>
          </a:xfrm>
        </p:spPr>
        <p:txBody>
          <a:bodyPr anchor="ctr">
            <a:normAutofit/>
          </a:bodyPr>
          <a:lstStyle/>
          <a:p>
            <a:r>
              <a:rPr lang="es-419" sz="3100"/>
              <a:t>Introducción</a:t>
            </a:r>
          </a:p>
        </p:txBody>
      </p:sp>
      <p:pic>
        <p:nvPicPr>
          <p:cNvPr id="2050" name="Picture 2" descr="Eugcom.cl">
            <a:extLst>
              <a:ext uri="{FF2B5EF4-FFF2-40B4-BE49-F238E27FC236}">
                <a16:creationId xmlns:a16="http://schemas.microsoft.com/office/drawing/2014/main" id="{C0266102-3B0E-0219-8D0E-8DE1573456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7248" y="1793621"/>
            <a:ext cx="3558159" cy="3558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 descr="Icono&#10;&#10;El contenido generado por IA puede ser incorrecto.">
            <a:extLst>
              <a:ext uri="{FF2B5EF4-FFF2-40B4-BE49-F238E27FC236}">
                <a16:creationId xmlns:a16="http://schemas.microsoft.com/office/drawing/2014/main" id="{C70E0802-FC6F-03A3-0433-5D562B5C5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4292" y="108352"/>
            <a:ext cx="1137067" cy="956207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4073D3EE-FB46-7743-A009-8609A8BF3875}"/>
              </a:ext>
            </a:extLst>
          </p:cNvPr>
          <p:cNvSpPr txBox="1"/>
          <p:nvPr/>
        </p:nvSpPr>
        <p:spPr>
          <a:xfrm>
            <a:off x="7693921" y="1064559"/>
            <a:ext cx="136004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800" dirty="0"/>
              <a:t>Facultad de ingeniería</a:t>
            </a:r>
          </a:p>
          <a:p>
            <a:r>
              <a:rPr lang="es-CL" sz="800" dirty="0"/>
              <a:t>Ingeniería de software I</a:t>
            </a:r>
          </a:p>
          <a:p>
            <a:endParaRPr lang="es-CL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3081" name="Rectangle 3080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83" name="Straight Connector 3082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833484" y="0"/>
            <a:ext cx="9144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5" name="Straight Connector 3084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468234" y="3681413"/>
            <a:ext cx="357266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87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61926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419"/>
          </a:p>
        </p:txBody>
      </p:sp>
      <p:sp>
        <p:nvSpPr>
          <p:cNvPr id="3089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400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419"/>
          </a:p>
        </p:txBody>
      </p:sp>
      <p:sp>
        <p:nvSpPr>
          <p:cNvPr id="3091" name="Isosceles Triangle 3090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068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419"/>
          </a:p>
        </p:txBody>
      </p:sp>
      <p:sp>
        <p:nvSpPr>
          <p:cNvPr id="3093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6694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419"/>
          </a:p>
        </p:txBody>
      </p:sp>
      <p:sp>
        <p:nvSpPr>
          <p:cNvPr id="3095" name="Isosceles Triangle 3094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4568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419"/>
          </a:p>
        </p:txBody>
      </p:sp>
      <p:sp>
        <p:nvSpPr>
          <p:cNvPr id="3097" name="Freeform: Shape 3096">
            <a:extLst>
              <a:ext uri="{FF2B5EF4-FFF2-40B4-BE49-F238E27FC236}">
                <a16:creationId xmlns:a16="http://schemas.microsoft.com/office/drawing/2014/main" id="{A5EC319D-0FEA-4B95-A3EA-01E35672C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8223" y="-8467"/>
            <a:ext cx="4495777" cy="6866467"/>
          </a:xfrm>
          <a:custGeom>
            <a:avLst/>
            <a:gdLst>
              <a:gd name="connsiteX0" fmla="*/ 0 w 5994369"/>
              <a:gd name="connsiteY0" fmla="*/ 0 h 6866467"/>
              <a:gd name="connsiteX1" fmla="*/ 1249825 w 5994369"/>
              <a:gd name="connsiteY1" fmla="*/ 0 h 6866467"/>
              <a:gd name="connsiteX2" fmla="*/ 1249825 w 5994369"/>
              <a:gd name="connsiteY2" fmla="*/ 8467 h 6866467"/>
              <a:gd name="connsiteX3" fmla="*/ 5994369 w 5994369"/>
              <a:gd name="connsiteY3" fmla="*/ 8467 h 6866467"/>
              <a:gd name="connsiteX4" fmla="*/ 5994369 w 5994369"/>
              <a:gd name="connsiteY4" fmla="*/ 6866467 h 6866467"/>
              <a:gd name="connsiteX5" fmla="*/ 1249825 w 5994369"/>
              <a:gd name="connsiteY5" fmla="*/ 6866467 h 6866467"/>
              <a:gd name="connsiteX6" fmla="*/ 1109382 w 5994369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94369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5994369" y="8467"/>
                </a:lnTo>
                <a:lnTo>
                  <a:pt x="5994369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3938" y="747902"/>
            <a:ext cx="3384742" cy="2227730"/>
          </a:xfrm>
        </p:spPr>
        <p:txBody>
          <a:bodyPr anchor="ctr">
            <a:normAutofit/>
          </a:bodyPr>
          <a:lstStyle/>
          <a:p>
            <a:r>
              <a:rPr lang="es-419" dirty="0">
                <a:solidFill>
                  <a:srgbClr val="FFFFFF"/>
                </a:solidFill>
              </a:rPr>
              <a:t>Arquitectura y Tecnologías</a:t>
            </a:r>
          </a:p>
        </p:txBody>
      </p:sp>
      <p:pic>
        <p:nvPicPr>
          <p:cNvPr id="3074" name="Picture 2" descr="Eugcom.cl">
            <a:extLst>
              <a:ext uri="{FF2B5EF4-FFF2-40B4-BE49-F238E27FC236}">
                <a16:creationId xmlns:a16="http://schemas.microsoft.com/office/drawing/2014/main" id="{1FCDACF4-9DE4-54CC-3E91-330CC3CFB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67938" y="2027159"/>
            <a:ext cx="2892580" cy="2892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86293" y="2837329"/>
            <a:ext cx="3384741" cy="3317938"/>
          </a:xfrm>
        </p:spPr>
        <p:txBody>
          <a:bodyPr anchor="t">
            <a:normAutofit/>
          </a:bodyPr>
          <a:lstStyle/>
          <a:p>
            <a:r>
              <a:rPr lang="es-419">
                <a:solidFill>
                  <a:srgbClr val="FFFFFF"/>
                </a:solidFill>
              </a:rPr>
              <a:t>Cliente-Servidor en capas</a:t>
            </a:r>
          </a:p>
          <a:p>
            <a:r>
              <a:rPr lang="es-419">
                <a:solidFill>
                  <a:srgbClr val="FFFFFF"/>
                </a:solidFill>
              </a:rPr>
              <a:t>Backend: PHP 7.4, MySQL/MariaDB, Apache</a:t>
            </a:r>
          </a:p>
          <a:p>
            <a:r>
              <a:rPr lang="es-419">
                <a:solidFill>
                  <a:srgbClr val="FFFFFF"/>
                </a:solidFill>
              </a:rPr>
              <a:t>Frontend: HTML, CSS, JS, Bootstrap</a:t>
            </a:r>
          </a:p>
        </p:txBody>
      </p:sp>
      <p:pic>
        <p:nvPicPr>
          <p:cNvPr id="4" name="Imagen 3" descr="Icono&#10;&#10;El contenido generado por IA puede ser incorrecto.">
            <a:extLst>
              <a:ext uri="{FF2B5EF4-FFF2-40B4-BE49-F238E27FC236}">
                <a16:creationId xmlns:a16="http://schemas.microsoft.com/office/drawing/2014/main" id="{90126ADB-2F42-1B24-FFC7-F28454A454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4292" y="108352"/>
            <a:ext cx="1137067" cy="956207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BD5D5C14-F4B4-60CA-B59D-EB1285040D20}"/>
              </a:ext>
            </a:extLst>
          </p:cNvPr>
          <p:cNvSpPr txBox="1"/>
          <p:nvPr/>
        </p:nvSpPr>
        <p:spPr>
          <a:xfrm>
            <a:off x="7693921" y="1064559"/>
            <a:ext cx="136004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800" dirty="0"/>
              <a:t>Facultad de ingeniería</a:t>
            </a:r>
          </a:p>
          <a:p>
            <a:r>
              <a:rPr lang="es-CL" sz="800" dirty="0"/>
              <a:t>Ingeniería de software I</a:t>
            </a:r>
          </a:p>
          <a:p>
            <a:endParaRPr lang="es-CL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Incremento</a:t>
            </a:r>
            <a:r>
              <a:rPr dirty="0"/>
              <a:t>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15 Casos de use implementors</a:t>
            </a:r>
          </a:p>
          <a:p>
            <a:r>
              <a:rPr dirty="0"/>
              <a:t>Coverture: 23% del total</a:t>
            </a:r>
          </a:p>
        </p:txBody>
      </p:sp>
      <p:pic>
        <p:nvPicPr>
          <p:cNvPr id="5122" name="Picture 2" descr="Eugcom.cl">
            <a:extLst>
              <a:ext uri="{FF2B5EF4-FFF2-40B4-BE49-F238E27FC236}">
                <a16:creationId xmlns:a16="http://schemas.microsoft.com/office/drawing/2014/main" id="{A885034D-6C2B-A637-D369-702DE63D6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6737" y="2000250"/>
            <a:ext cx="14287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 descr="Icono&#10;&#10;El contenido generado por IA puede ser incorrecto.">
            <a:extLst>
              <a:ext uri="{FF2B5EF4-FFF2-40B4-BE49-F238E27FC236}">
                <a16:creationId xmlns:a16="http://schemas.microsoft.com/office/drawing/2014/main" id="{8BD77CFB-3993-6C0B-FA07-AB7C7EB4CF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4292" y="108352"/>
            <a:ext cx="1137067" cy="956207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E61DE81A-45F7-200E-7D4C-526F894A047A}"/>
              </a:ext>
            </a:extLst>
          </p:cNvPr>
          <p:cNvSpPr txBox="1"/>
          <p:nvPr/>
        </p:nvSpPr>
        <p:spPr>
          <a:xfrm>
            <a:off x="7693921" y="1064559"/>
            <a:ext cx="136004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800" dirty="0"/>
              <a:t>Facultad de ingeniería</a:t>
            </a:r>
          </a:p>
          <a:p>
            <a:r>
              <a:rPr lang="es-CL" sz="800" dirty="0"/>
              <a:t>Ingeniería de software I</a:t>
            </a:r>
          </a:p>
          <a:p>
            <a:endParaRPr lang="es-CL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Backlog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Requerimientos priorizados</a:t>
            </a:r>
          </a:p>
          <a:p>
            <a:r>
              <a:t>Historias de usuario con prioridad y esfuerzo</a:t>
            </a:r>
          </a:p>
          <a:p>
            <a:r>
              <a:t>Todos los casos completados</a:t>
            </a:r>
          </a:p>
        </p:txBody>
      </p:sp>
      <p:pic>
        <p:nvPicPr>
          <p:cNvPr id="4098" name="Picture 2" descr="Eugcom.cl">
            <a:extLst>
              <a:ext uri="{FF2B5EF4-FFF2-40B4-BE49-F238E27FC236}">
                <a16:creationId xmlns:a16="http://schemas.microsoft.com/office/drawing/2014/main" id="{24113999-E8D1-2823-83E5-88CD888A47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9889" y="2303145"/>
            <a:ext cx="14287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 descr="Icono&#10;&#10;El contenido generado por IA puede ser incorrecto.">
            <a:extLst>
              <a:ext uri="{FF2B5EF4-FFF2-40B4-BE49-F238E27FC236}">
                <a16:creationId xmlns:a16="http://schemas.microsoft.com/office/drawing/2014/main" id="{0E724577-C7ED-D709-6227-5098340E9F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4292" y="108352"/>
            <a:ext cx="1137067" cy="956207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9133947F-F4B6-95E7-6D53-33DF76D183C0}"/>
              </a:ext>
            </a:extLst>
          </p:cNvPr>
          <p:cNvSpPr txBox="1"/>
          <p:nvPr/>
        </p:nvSpPr>
        <p:spPr>
          <a:xfrm>
            <a:off x="7693921" y="1064559"/>
            <a:ext cx="136004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800" dirty="0"/>
              <a:t>Facultad de ingeniería</a:t>
            </a:r>
          </a:p>
          <a:p>
            <a:r>
              <a:rPr lang="es-CL" sz="800" dirty="0"/>
              <a:t>Ingeniería de software I</a:t>
            </a:r>
          </a:p>
          <a:p>
            <a:endParaRPr lang="es-CL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5" name="Group 7174">
            <a:extLst>
              <a:ext uri="{FF2B5EF4-FFF2-40B4-BE49-F238E27FC236}">
                <a16:creationId xmlns:a16="http://schemas.microsoft.com/office/drawing/2014/main" id="{B4DE830A-B531-4A3B-96F6-0ECE88B08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7176" name="Straight Connector 7175">
              <a:extLst>
                <a:ext uri="{FF2B5EF4-FFF2-40B4-BE49-F238E27FC236}">
                  <a16:creationId xmlns:a16="http://schemas.microsoft.com/office/drawing/2014/main" id="{2813DF2C-461A-4A8F-9679-A172790D1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77" name="Straight Connector 7176">
              <a:extLst>
                <a:ext uri="{FF2B5EF4-FFF2-40B4-BE49-F238E27FC236}">
                  <a16:creationId xmlns:a16="http://schemas.microsoft.com/office/drawing/2014/main" id="{54CD3A85-C039-4249-86E4-1EB9318B5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178" name="Rectangle 23">
              <a:extLst>
                <a:ext uri="{FF2B5EF4-FFF2-40B4-BE49-F238E27FC236}">
                  <a16:creationId xmlns:a16="http://schemas.microsoft.com/office/drawing/2014/main" id="{887EA6D2-2883-42C2-993D-094CA6D65D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419"/>
            </a:p>
          </p:txBody>
        </p:sp>
        <p:sp>
          <p:nvSpPr>
            <p:cNvPr id="7179" name="Rectangle 25">
              <a:extLst>
                <a:ext uri="{FF2B5EF4-FFF2-40B4-BE49-F238E27FC236}">
                  <a16:creationId xmlns:a16="http://schemas.microsoft.com/office/drawing/2014/main" id="{3B895046-636F-4D1B-ACA4-29AA0CB33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419"/>
            </a:p>
          </p:txBody>
        </p:sp>
        <p:sp>
          <p:nvSpPr>
            <p:cNvPr id="7180" name="Isosceles Triangle 7179">
              <a:extLst>
                <a:ext uri="{FF2B5EF4-FFF2-40B4-BE49-F238E27FC236}">
                  <a16:creationId xmlns:a16="http://schemas.microsoft.com/office/drawing/2014/main" id="{C6B0CDE3-E054-4EDD-A43B-F96843D8B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419"/>
            </a:p>
          </p:txBody>
        </p:sp>
        <p:sp>
          <p:nvSpPr>
            <p:cNvPr id="7181" name="Rectangle 27">
              <a:extLst>
                <a:ext uri="{FF2B5EF4-FFF2-40B4-BE49-F238E27FC236}">
                  <a16:creationId xmlns:a16="http://schemas.microsoft.com/office/drawing/2014/main" id="{3B66B1A2-F145-4C9B-85CC-4BF30D58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419"/>
            </a:p>
          </p:txBody>
        </p:sp>
        <p:sp>
          <p:nvSpPr>
            <p:cNvPr id="7182" name="Rectangle 28">
              <a:extLst>
                <a:ext uri="{FF2B5EF4-FFF2-40B4-BE49-F238E27FC236}">
                  <a16:creationId xmlns:a16="http://schemas.microsoft.com/office/drawing/2014/main" id="{5D4FC972-94B3-4035-8D31-E668C132B4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419"/>
            </a:p>
          </p:txBody>
        </p:sp>
        <p:sp>
          <p:nvSpPr>
            <p:cNvPr id="7183" name="Rectangle 29">
              <a:extLst>
                <a:ext uri="{FF2B5EF4-FFF2-40B4-BE49-F238E27FC236}">
                  <a16:creationId xmlns:a16="http://schemas.microsoft.com/office/drawing/2014/main" id="{374B9941-AFBE-4A77-A50E-B6EA04A746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419"/>
            </a:p>
          </p:txBody>
        </p:sp>
        <p:sp>
          <p:nvSpPr>
            <p:cNvPr id="7184" name="Isosceles Triangle 7183">
              <a:extLst>
                <a:ext uri="{FF2B5EF4-FFF2-40B4-BE49-F238E27FC236}">
                  <a16:creationId xmlns:a16="http://schemas.microsoft.com/office/drawing/2014/main" id="{27A982C5-2C38-4CE9-BC18-94697AD657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419"/>
            </a:p>
          </p:txBody>
        </p:sp>
        <p:sp>
          <p:nvSpPr>
            <p:cNvPr id="7185" name="Isosceles Triangle 7184">
              <a:extLst>
                <a:ext uri="{FF2B5EF4-FFF2-40B4-BE49-F238E27FC236}">
                  <a16:creationId xmlns:a16="http://schemas.microsoft.com/office/drawing/2014/main" id="{0060D8D1-7BB1-498F-AFBB-ADAC130A9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419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831" y="404865"/>
            <a:ext cx="5755351" cy="1087656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Sprint Backlog y Casos de Uso</a:t>
            </a:r>
          </a:p>
        </p:txBody>
      </p:sp>
      <p:pic>
        <p:nvPicPr>
          <p:cNvPr id="3" name="Picture 1133264378">
            <a:extLst>
              <a:ext uri="{FF2B5EF4-FFF2-40B4-BE49-F238E27FC236}">
                <a16:creationId xmlns:a16="http://schemas.microsoft.com/office/drawing/2014/main" id="{BF25E99F-38C9-7B7B-D7D4-D928726745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1339" y="1605491"/>
            <a:ext cx="5981065" cy="1819275"/>
          </a:xfrm>
          <a:prstGeom prst="rect">
            <a:avLst/>
          </a:prstGeom>
        </p:spPr>
      </p:pic>
      <p:pic>
        <p:nvPicPr>
          <p:cNvPr id="4" name="Picture 1582867906">
            <a:extLst>
              <a:ext uri="{FF2B5EF4-FFF2-40B4-BE49-F238E27FC236}">
                <a16:creationId xmlns:a16="http://schemas.microsoft.com/office/drawing/2014/main" id="{84510837-59D6-6ACA-DCBF-4699D80EAEC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1340" y="3433233"/>
            <a:ext cx="5981065" cy="1657350"/>
          </a:xfrm>
          <a:prstGeom prst="rect">
            <a:avLst/>
          </a:prstGeom>
        </p:spPr>
      </p:pic>
      <p:pic>
        <p:nvPicPr>
          <p:cNvPr id="5" name="Picture 1293869529" title="Insertando imagen...">
            <a:extLst>
              <a:ext uri="{FF2B5EF4-FFF2-40B4-BE49-F238E27FC236}">
                <a16:creationId xmlns:a16="http://schemas.microsoft.com/office/drawing/2014/main" id="{5F425461-4A90-FA81-59F8-A952701A031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1340" y="5090583"/>
            <a:ext cx="5981065" cy="1571625"/>
          </a:xfrm>
          <a:prstGeom prst="rect">
            <a:avLst/>
          </a:prstGeom>
        </p:spPr>
      </p:pic>
      <p:pic>
        <p:nvPicPr>
          <p:cNvPr id="6" name="Imagen 5" descr="Icono&#10;&#10;El contenido generado por IA puede ser incorrecto.">
            <a:extLst>
              <a:ext uri="{FF2B5EF4-FFF2-40B4-BE49-F238E27FC236}">
                <a16:creationId xmlns:a16="http://schemas.microsoft.com/office/drawing/2014/main" id="{7E82DFEA-5661-2971-A2D6-ADD2080ED4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4292" y="108352"/>
            <a:ext cx="1137067" cy="956207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434D1221-90B6-ECD5-D382-44BD2760117E}"/>
              </a:ext>
            </a:extLst>
          </p:cNvPr>
          <p:cNvSpPr txBox="1"/>
          <p:nvPr/>
        </p:nvSpPr>
        <p:spPr>
          <a:xfrm>
            <a:off x="7693921" y="1064559"/>
            <a:ext cx="136004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800" dirty="0"/>
              <a:t>Facultad de ingeniería</a:t>
            </a:r>
          </a:p>
          <a:p>
            <a:r>
              <a:rPr lang="es-CL" sz="800" dirty="0"/>
              <a:t>Ingeniería de software I</a:t>
            </a:r>
          </a:p>
          <a:p>
            <a:endParaRPr lang="es-CL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F56B3A-F8F8-2E60-35B6-CB5D0E7FB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3" y="248031"/>
            <a:ext cx="6347713" cy="567944"/>
          </a:xfrm>
        </p:spPr>
        <p:txBody>
          <a:bodyPr>
            <a:normAutofit fontScale="90000"/>
          </a:bodyPr>
          <a:lstStyle/>
          <a:p>
            <a:r>
              <a:rPr lang="en-US" dirty="0"/>
              <a:t>Vista </a:t>
            </a:r>
            <a:r>
              <a:rPr lang="en-US" dirty="0" err="1"/>
              <a:t>logica</a:t>
            </a:r>
            <a:r>
              <a:rPr lang="en-US" dirty="0"/>
              <a:t>: </a:t>
            </a:r>
            <a:r>
              <a:rPr lang="en-US" dirty="0" err="1"/>
              <a:t>diagrama</a:t>
            </a:r>
            <a:r>
              <a:rPr lang="en-US" dirty="0"/>
              <a:t> de </a:t>
            </a:r>
            <a:r>
              <a:rPr lang="en-US" dirty="0" err="1"/>
              <a:t>clases</a:t>
            </a:r>
            <a:endParaRPr lang="es-419" dirty="0"/>
          </a:p>
        </p:txBody>
      </p:sp>
      <p:pic>
        <p:nvPicPr>
          <p:cNvPr id="3074" name="Picture 2" descr="Diagrama, Esquemático&#10;&#10;El contenido generado por IA puede ser incorrecto., Imagen">
            <a:extLst>
              <a:ext uri="{FF2B5EF4-FFF2-40B4-BE49-F238E27FC236}">
                <a16:creationId xmlns:a16="http://schemas.microsoft.com/office/drawing/2014/main" id="{E64F9E9B-AC39-9DB7-6128-2D9E91C2988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539" y="960120"/>
            <a:ext cx="6714925" cy="5056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 descr="Icono&#10;&#10;El contenido generado por IA puede ser incorrecto.">
            <a:extLst>
              <a:ext uri="{FF2B5EF4-FFF2-40B4-BE49-F238E27FC236}">
                <a16:creationId xmlns:a16="http://schemas.microsoft.com/office/drawing/2014/main" id="{FC80B707-FB6C-E691-571F-4F23B198A8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4292" y="108352"/>
            <a:ext cx="1137067" cy="956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242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D04868-6B6C-BC5F-4E76-EB6B6528B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Vista Externa: Caso de Uso</a:t>
            </a:r>
            <a:endParaRPr lang="es-419" dirty="0"/>
          </a:p>
        </p:txBody>
      </p:sp>
      <p:pic>
        <p:nvPicPr>
          <p:cNvPr id="2050" name="Picture 2" descr="Interfaz de usuario gráfica, Texto&#10;&#10;El contenido generado por IA puede ser incorrecto., Imagen">
            <a:extLst>
              <a:ext uri="{FF2B5EF4-FFF2-40B4-BE49-F238E27FC236}">
                <a16:creationId xmlns:a16="http://schemas.microsoft.com/office/drawing/2014/main" id="{05EE198D-28BE-CDE3-15EA-95DCED10116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075" y="1513246"/>
            <a:ext cx="5377487" cy="4735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 descr="Icono&#10;&#10;El contenido generado por IA puede ser incorrecto.">
            <a:extLst>
              <a:ext uri="{FF2B5EF4-FFF2-40B4-BE49-F238E27FC236}">
                <a16:creationId xmlns:a16="http://schemas.microsoft.com/office/drawing/2014/main" id="{509AC30C-D0A8-D9E2-7C1A-929CC29B88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4292" y="108352"/>
            <a:ext cx="1137067" cy="956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588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954F04-618E-965B-2846-4882C9D27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641" y="717874"/>
            <a:ext cx="7213175" cy="693369"/>
          </a:xfrm>
        </p:spPr>
        <p:txBody>
          <a:bodyPr>
            <a:normAutofit/>
          </a:bodyPr>
          <a:lstStyle/>
          <a:p>
            <a:r>
              <a:rPr lang="en-US" sz="2800" dirty="0"/>
              <a:t>Vista de </a:t>
            </a:r>
            <a:r>
              <a:rPr lang="en-US" sz="2800" dirty="0" err="1"/>
              <a:t>proceso</a:t>
            </a:r>
            <a:r>
              <a:rPr lang="en-US" sz="2800" dirty="0"/>
              <a:t>: Diagrama de secuencia</a:t>
            </a:r>
            <a:endParaRPr lang="es-419" sz="2800" dirty="0"/>
          </a:p>
        </p:txBody>
      </p:sp>
      <p:pic>
        <p:nvPicPr>
          <p:cNvPr id="4" name="Imagen 3" descr="Icono&#10;&#10;El contenido generado por IA puede ser incorrecto.">
            <a:extLst>
              <a:ext uri="{FF2B5EF4-FFF2-40B4-BE49-F238E27FC236}">
                <a16:creationId xmlns:a16="http://schemas.microsoft.com/office/drawing/2014/main" id="{768D85AC-06F1-D3FA-5E79-A67D511C0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4292" y="108352"/>
            <a:ext cx="1137067" cy="956207"/>
          </a:xfrm>
          <a:prstGeom prst="rect">
            <a:avLst/>
          </a:prstGeom>
        </p:spPr>
      </p:pic>
      <p:pic>
        <p:nvPicPr>
          <p:cNvPr id="1028" name="Picture 4" descr="Gráfico&#10;&#10;El contenido generado por IA puede ser incorrecto., Imagen">
            <a:extLst>
              <a:ext uri="{FF2B5EF4-FFF2-40B4-BE49-F238E27FC236}">
                <a16:creationId xmlns:a16="http://schemas.microsoft.com/office/drawing/2014/main" id="{5FF214F3-A005-2639-1828-5FF03B40E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641" y="1746480"/>
            <a:ext cx="7462060" cy="3569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43530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Sprint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Revisión</a:t>
            </a:r>
            <a:r>
              <a:rPr dirty="0"/>
              <a:t> del backlog</a:t>
            </a:r>
          </a:p>
          <a:p>
            <a:r>
              <a:rPr dirty="0" err="1"/>
              <a:t>Esfuerzo</a:t>
            </a:r>
            <a:r>
              <a:rPr dirty="0"/>
              <a:t> y </a:t>
            </a:r>
            <a:r>
              <a:rPr dirty="0" err="1"/>
              <a:t>gráficos</a:t>
            </a:r>
            <a:r>
              <a:rPr dirty="0"/>
              <a:t> Burn Down / Up</a:t>
            </a:r>
            <a:endParaRPr lang="es-419" dirty="0"/>
          </a:p>
          <a:p>
            <a:r>
              <a:rPr lang="es-MX" dirty="0"/>
              <a:t>Retrospectiva y plan de mejora</a:t>
            </a:r>
          </a:p>
        </p:txBody>
      </p:sp>
      <p:pic>
        <p:nvPicPr>
          <p:cNvPr id="4" name="Imagen 3" descr="Icono&#10;&#10;El contenido generado por IA puede ser incorrecto.">
            <a:extLst>
              <a:ext uri="{FF2B5EF4-FFF2-40B4-BE49-F238E27FC236}">
                <a16:creationId xmlns:a16="http://schemas.microsoft.com/office/drawing/2014/main" id="{7E95CBF5-1D15-4771-FB3D-1B072A590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4292" y="108352"/>
            <a:ext cx="1137067" cy="956207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085B140E-1F3B-D7ED-F545-98149D4F7EE0}"/>
              </a:ext>
            </a:extLst>
          </p:cNvPr>
          <p:cNvSpPr txBox="1"/>
          <p:nvPr/>
        </p:nvSpPr>
        <p:spPr>
          <a:xfrm>
            <a:off x="7693921" y="1064559"/>
            <a:ext cx="136004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800" dirty="0"/>
              <a:t>Facultad de ingeniería</a:t>
            </a:r>
          </a:p>
          <a:p>
            <a:r>
              <a:rPr lang="es-CL" sz="800" dirty="0"/>
              <a:t>Ingeniería de software I</a:t>
            </a:r>
          </a:p>
          <a:p>
            <a:endParaRPr lang="es-CL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Eugcom.cl">
            <a:extLst>
              <a:ext uri="{FF2B5EF4-FFF2-40B4-BE49-F238E27FC236}">
                <a16:creationId xmlns:a16="http://schemas.microsoft.com/office/drawing/2014/main" id="{0EBB4875-EECF-EB50-E9E8-417DAAA6CE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" y="496025"/>
            <a:ext cx="1137067" cy="1137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n 1" descr="Icono&#10;&#10;El contenido generado por IA puede ser incorrecto.">
            <a:extLst>
              <a:ext uri="{FF2B5EF4-FFF2-40B4-BE49-F238E27FC236}">
                <a16:creationId xmlns:a16="http://schemas.microsoft.com/office/drawing/2014/main" id="{13A16D1E-B79C-59E6-3509-36C1EF7738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4292" y="108352"/>
            <a:ext cx="1137067" cy="956207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9E2A5CF1-1DFC-01EA-A935-69784121A3B6}"/>
              </a:ext>
            </a:extLst>
          </p:cNvPr>
          <p:cNvSpPr txBox="1"/>
          <p:nvPr/>
        </p:nvSpPr>
        <p:spPr>
          <a:xfrm>
            <a:off x="7693921" y="1064559"/>
            <a:ext cx="136004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800" dirty="0"/>
              <a:t>Facultad de ingeniería</a:t>
            </a:r>
          </a:p>
          <a:p>
            <a:r>
              <a:rPr lang="es-CL" sz="800" dirty="0"/>
              <a:t>Ingeniería de software I</a:t>
            </a:r>
          </a:p>
          <a:p>
            <a:endParaRPr lang="es-CL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9B1E5721-C00A-0D24-A767-89FFED888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3297936"/>
            <a:ext cx="6347714" cy="1320800"/>
          </a:xfrm>
        </p:spPr>
        <p:txBody>
          <a:bodyPr/>
          <a:lstStyle/>
          <a:p>
            <a:r>
              <a:rPr lang="en-US" dirty="0"/>
              <a:t>A Continuaci</a:t>
            </a:r>
            <a:r>
              <a:rPr lang="es-CL" dirty="0"/>
              <a:t>ó</a:t>
            </a:r>
            <a:r>
              <a:rPr lang="en-US" dirty="0"/>
              <a:t>n una Demo…</a:t>
            </a:r>
            <a:endParaRPr lang="es-419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TM02900688[[fn=Faceta]]</Template>
  <TotalTime>500</TotalTime>
  <Words>260</Words>
  <Application>Microsoft Office PowerPoint</Application>
  <PresentationFormat>Presentación en pantalla (4:3)</PresentationFormat>
  <Paragraphs>62</Paragraphs>
  <Slides>12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Aptos</vt:lpstr>
      <vt:lpstr>Arial</vt:lpstr>
      <vt:lpstr>Times New Roman</vt:lpstr>
      <vt:lpstr>Trebuchet MS</vt:lpstr>
      <vt:lpstr>Wingdings 3</vt:lpstr>
      <vt:lpstr>Faceta</vt:lpstr>
      <vt:lpstr>PROYECTO INGENIERÍA DE SOFTWARE PRIMER INCREMENTO PARA EL SISTEMA BIOMÉTRICO WEB EUGCOM</vt:lpstr>
      <vt:lpstr>Contenido</vt:lpstr>
      <vt:lpstr>Introducción</vt:lpstr>
      <vt:lpstr>Arquitectura y Tecnologías</vt:lpstr>
      <vt:lpstr>Incremento 1</vt:lpstr>
      <vt:lpstr>Product Backlog</vt:lpstr>
      <vt:lpstr>Sprint Backlog y Casos de Uso</vt:lpstr>
      <vt:lpstr>Vista logica: diagrama de clases</vt:lpstr>
      <vt:lpstr>Vista Externa: Caso de Uso</vt:lpstr>
      <vt:lpstr>Vista de proceso: Diagrama de secuencia</vt:lpstr>
      <vt:lpstr>Sprint Review</vt:lpstr>
      <vt:lpstr>A Continuación una Demo…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Benja</dc:creator>
  <cp:keywords/>
  <dc:description>generated using python-pptx</dc:description>
  <cp:lastModifiedBy>benjamin franco</cp:lastModifiedBy>
  <cp:revision>12</cp:revision>
  <dcterms:created xsi:type="dcterms:W3CDTF">2013-01-27T09:14:16Z</dcterms:created>
  <dcterms:modified xsi:type="dcterms:W3CDTF">2025-06-23T05:45:35Z</dcterms:modified>
  <cp:category/>
</cp:coreProperties>
</file>