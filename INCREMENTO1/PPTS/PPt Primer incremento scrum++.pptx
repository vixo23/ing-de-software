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70" r:id="rId9"/>
    <p:sldId id="271" r:id="rId10"/>
    <p:sldId id="269" r:id="rId11"/>
    <p:sldId id="268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28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24AA8-F311-4ABC-8748-4A852C5A6ECD}" type="datetimeFigureOut">
              <a:rPr lang="es-419" smtClean="0"/>
              <a:t>18/8/2025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72E5D-85DF-4E89-91D5-2C34C2EE1B6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2529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72E5D-85DF-4E89-91D5-2C34C2EE1B60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99608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1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2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85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4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2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0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9450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7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52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46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27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0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CL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PROYECTO INGENIERÍA DE SOFTWARE PRIMER INCREMENTO PARA EL SISTEMA BIOMÉTRICO WEB EUGCOM</a:t>
            </a:r>
            <a:endParaRPr lang="es-C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32" y="2905271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Integrantes: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Addan Ignacio Sáez Rodríguez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Diego Yves Amaro Veliz Riquelme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Vicente Ignacio Henríquez Cortes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Catalina Vidal Gallarda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Felipe Andrés Uribe del pino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Benjamin Alberto Franco Silva</a:t>
            </a:r>
          </a:p>
          <a:p>
            <a:pPr marL="0" indent="0">
              <a:buNone/>
            </a:pPr>
            <a:endParaRPr lang="es-C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Paulo Luis Francisco </a:t>
            </a:r>
            <a:r>
              <a:rPr lang="es-CL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Quinsacara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Jofré</a:t>
            </a:r>
          </a:p>
          <a:p>
            <a:pPr marL="0" indent="0">
              <a:buNone/>
            </a:pPr>
            <a:endParaRPr lang="es-E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CL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Fecha</a:t>
            </a: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s-C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de julio 2025, Santiago, Chile</a:t>
            </a:r>
          </a:p>
        </p:txBody>
      </p:sp>
      <p:pic>
        <p:nvPicPr>
          <p:cNvPr id="1026" name="Picture 2" descr="Eugcom.cl">
            <a:extLst>
              <a:ext uri="{FF2B5EF4-FFF2-40B4-BE49-F238E27FC236}">
                <a16:creationId xmlns:a16="http://schemas.microsoft.com/office/drawing/2014/main" id="{1A5134F6-63AD-D538-123F-83B414CEE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912" y="2109289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02B8B71-12EA-7A2F-E011-455093C59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48AF5F-2FDD-CFBB-9B69-DED9752B16E7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01049-525A-EFBE-17E9-98FA96CE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Contenido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43AB59-720C-9027-2EFF-B0DA0041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err="1"/>
              <a:t>Propueta</a:t>
            </a:r>
            <a:r>
              <a:rPr lang="es-CL" dirty="0"/>
              <a:t> de solución e incremento </a:t>
            </a:r>
            <a:r>
              <a:rPr lang="es-CL" dirty="0" err="1"/>
              <a:t>cap</a:t>
            </a:r>
            <a:r>
              <a:rPr lang="es-CL" dirty="0"/>
              <a:t> 2</a:t>
            </a:r>
          </a:p>
          <a:p>
            <a:r>
              <a:rPr lang="es-CL" dirty="0" err="1"/>
              <a:t>Product</a:t>
            </a:r>
            <a:r>
              <a:rPr lang="es-CL" dirty="0"/>
              <a:t> Backlog </a:t>
            </a:r>
            <a:r>
              <a:rPr lang="es-CL" dirty="0" err="1"/>
              <a:t>cap</a:t>
            </a:r>
            <a:r>
              <a:rPr lang="es-CL" dirty="0"/>
              <a:t> 3</a:t>
            </a:r>
          </a:p>
          <a:p>
            <a:r>
              <a:rPr lang="es-CL" dirty="0"/>
              <a:t>Spring Backlog – vista externa </a:t>
            </a:r>
            <a:r>
              <a:rPr lang="es-CL" dirty="0" err="1"/>
              <a:t>cap</a:t>
            </a:r>
            <a:r>
              <a:rPr lang="es-CL" dirty="0"/>
              <a:t> 4</a:t>
            </a:r>
          </a:p>
          <a:p>
            <a:r>
              <a:rPr lang="es-CL" dirty="0"/>
              <a:t>Sprint vistas </a:t>
            </a:r>
            <a:r>
              <a:rPr lang="es-CL" dirty="0" err="1"/>
              <a:t>cap</a:t>
            </a:r>
            <a:r>
              <a:rPr lang="es-CL" dirty="0"/>
              <a:t> 5</a:t>
            </a:r>
          </a:p>
          <a:p>
            <a:r>
              <a:rPr lang="es-CL" dirty="0"/>
              <a:t>Manual de instalación </a:t>
            </a:r>
            <a:r>
              <a:rPr lang="es-CL" dirty="0" err="1"/>
              <a:t>cap</a:t>
            </a:r>
            <a:r>
              <a:rPr lang="es-CL" dirty="0"/>
              <a:t> 6</a:t>
            </a:r>
          </a:p>
          <a:p>
            <a:r>
              <a:rPr lang="es-CL" dirty="0"/>
              <a:t>Pruebas de sistema </a:t>
            </a:r>
            <a:r>
              <a:rPr lang="es-CL" dirty="0" err="1"/>
              <a:t>cap</a:t>
            </a:r>
            <a:r>
              <a:rPr lang="es-CL" dirty="0"/>
              <a:t> 8</a:t>
            </a:r>
          </a:p>
          <a:p>
            <a:r>
              <a:rPr lang="es-CL" dirty="0"/>
              <a:t>Sprint </a:t>
            </a:r>
            <a:r>
              <a:rPr lang="es-CL" dirty="0" err="1"/>
              <a:t>review</a:t>
            </a:r>
            <a:r>
              <a:rPr lang="es-CL" dirty="0"/>
              <a:t> </a:t>
            </a:r>
            <a:r>
              <a:rPr lang="es-CL" dirty="0" err="1"/>
              <a:t>cap</a:t>
            </a:r>
            <a:r>
              <a:rPr lang="es-CL" dirty="0"/>
              <a:t> 9</a:t>
            </a:r>
            <a:endParaRPr lang="es-419" dirty="0"/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5D6F4134-7607-6C7D-2222-FB92B241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6507B64-5A81-FB6C-8D05-A99B6B04C708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662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es-419" sz="3100"/>
              <a:t>Introducción</a:t>
            </a:r>
          </a:p>
        </p:txBody>
      </p:sp>
      <p:pic>
        <p:nvPicPr>
          <p:cNvPr id="2050" name="Picture 2" descr="Eugcom.cl">
            <a:extLst>
              <a:ext uri="{FF2B5EF4-FFF2-40B4-BE49-F238E27FC236}">
                <a16:creationId xmlns:a16="http://schemas.microsoft.com/office/drawing/2014/main" id="{C0266102-3B0E-0219-8D0E-8DE15734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8" y="1793621"/>
            <a:ext cx="3558159" cy="355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70E0802-FC6F-03A3-0433-5D562B5C5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73D3EE-FB46-7743-A009-8609A8BF3875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33484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468234" y="3681413"/>
            <a:ext cx="357266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61926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8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400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1" name="Isosceles Triangle 309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068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694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5" name="Isosceles Triangle 309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4568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419"/>
          </a:p>
        </p:txBody>
      </p:sp>
      <p:sp>
        <p:nvSpPr>
          <p:cNvPr id="3097" name="Freeform: Shape 309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8223" y="-8467"/>
            <a:ext cx="4495777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3938" y="747902"/>
            <a:ext cx="3384742" cy="2227730"/>
          </a:xfrm>
        </p:spPr>
        <p:txBody>
          <a:bodyPr anchor="ctr">
            <a:normAutofit/>
          </a:bodyPr>
          <a:lstStyle/>
          <a:p>
            <a:r>
              <a:rPr lang="es-419" dirty="0">
                <a:solidFill>
                  <a:srgbClr val="FFFFFF"/>
                </a:solidFill>
              </a:rPr>
              <a:t>Arquitectura y Tecnologías</a:t>
            </a:r>
          </a:p>
        </p:txBody>
      </p:sp>
      <p:pic>
        <p:nvPicPr>
          <p:cNvPr id="3074" name="Picture 2" descr="Eugcom.cl">
            <a:extLst>
              <a:ext uri="{FF2B5EF4-FFF2-40B4-BE49-F238E27FC236}">
                <a16:creationId xmlns:a16="http://schemas.microsoft.com/office/drawing/2014/main" id="{1FCDACF4-9DE4-54CC-3E91-330CC3CFB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7938" y="2027159"/>
            <a:ext cx="2892580" cy="28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93" y="2837329"/>
            <a:ext cx="3384741" cy="3317938"/>
          </a:xfrm>
        </p:spPr>
        <p:txBody>
          <a:bodyPr anchor="t">
            <a:normAutofit/>
          </a:bodyPr>
          <a:lstStyle/>
          <a:p>
            <a:r>
              <a:rPr lang="es-419">
                <a:solidFill>
                  <a:srgbClr val="FFFFFF"/>
                </a:solidFill>
              </a:rPr>
              <a:t>Cliente-Servidor en capas</a:t>
            </a:r>
          </a:p>
          <a:p>
            <a:r>
              <a:rPr lang="es-419">
                <a:solidFill>
                  <a:srgbClr val="FFFFFF"/>
                </a:solidFill>
              </a:rPr>
              <a:t>Backend: PHP 7.4, MySQL/MariaDB, Apache</a:t>
            </a:r>
          </a:p>
          <a:p>
            <a:r>
              <a:rPr lang="es-419">
                <a:solidFill>
                  <a:srgbClr val="FFFFFF"/>
                </a:solidFill>
              </a:rPr>
              <a:t>Frontend: HTML, CSS, JS, Bootstrap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90126ADB-2F42-1B24-FFC7-F28454A45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D5D5C14-F4B4-60CA-B59D-EB1285040D20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Incremento</a:t>
            </a:r>
            <a:r>
              <a:rPr dirty="0"/>
              <a:t>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15 Casos de use implementors</a:t>
            </a:r>
          </a:p>
          <a:p>
            <a:r>
              <a:rPr dirty="0"/>
              <a:t>Coverture: 23% del total</a:t>
            </a:r>
          </a:p>
        </p:txBody>
      </p:sp>
      <p:pic>
        <p:nvPicPr>
          <p:cNvPr id="5122" name="Picture 2" descr="Eugcom.cl">
            <a:extLst>
              <a:ext uri="{FF2B5EF4-FFF2-40B4-BE49-F238E27FC236}">
                <a16:creationId xmlns:a16="http://schemas.microsoft.com/office/drawing/2014/main" id="{A885034D-6C2B-A637-D369-702DE63D6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737" y="200025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8BD77CFB-3993-6C0B-FA07-AB7C7EB4C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61DE81A-45F7-200E-7D4C-526F894A047A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Backlog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Requerimientos priorizados</a:t>
            </a:r>
          </a:p>
          <a:p>
            <a:r>
              <a:t>Historias de usuario con prioridad y esfuerzo</a:t>
            </a:r>
          </a:p>
          <a:p>
            <a:r>
              <a:t>Todos los casos completados</a:t>
            </a:r>
          </a:p>
        </p:txBody>
      </p:sp>
      <p:pic>
        <p:nvPicPr>
          <p:cNvPr id="4098" name="Picture 2" descr="Eugcom.cl">
            <a:extLst>
              <a:ext uri="{FF2B5EF4-FFF2-40B4-BE49-F238E27FC236}">
                <a16:creationId xmlns:a16="http://schemas.microsoft.com/office/drawing/2014/main" id="{24113999-E8D1-2823-83E5-88CD888A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889" y="2303145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0E724577-C7ED-D709-6227-5098340E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33947F-F4B6-95E7-6D53-33DF76D183C0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7176" name="Straight Connector 7175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7" name="Straight Connector 7176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78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79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0" name="Isosceles Triangle 7179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1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2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3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4" name="Isosceles Triangle 7183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  <p:sp>
          <p:nvSpPr>
            <p:cNvPr id="7185" name="Isosceles Triangle 7184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419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831" y="404865"/>
            <a:ext cx="5755351" cy="10876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Sprint Backlog y Casos de Uso</a:t>
            </a:r>
          </a:p>
        </p:txBody>
      </p:sp>
      <p:pic>
        <p:nvPicPr>
          <p:cNvPr id="3" name="Picture 1133264378">
            <a:extLst>
              <a:ext uri="{FF2B5EF4-FFF2-40B4-BE49-F238E27FC236}">
                <a16:creationId xmlns:a16="http://schemas.microsoft.com/office/drawing/2014/main" id="{BF25E99F-38C9-7B7B-D7D4-D928726745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39" y="1605491"/>
            <a:ext cx="5981065" cy="1819275"/>
          </a:xfrm>
          <a:prstGeom prst="rect">
            <a:avLst/>
          </a:prstGeom>
        </p:spPr>
      </p:pic>
      <p:pic>
        <p:nvPicPr>
          <p:cNvPr id="4" name="Picture 1582867906">
            <a:extLst>
              <a:ext uri="{FF2B5EF4-FFF2-40B4-BE49-F238E27FC236}">
                <a16:creationId xmlns:a16="http://schemas.microsoft.com/office/drawing/2014/main" id="{84510837-59D6-6ACA-DCBF-4699D80EA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40" y="3433233"/>
            <a:ext cx="5981065" cy="1657350"/>
          </a:xfrm>
          <a:prstGeom prst="rect">
            <a:avLst/>
          </a:prstGeom>
        </p:spPr>
      </p:pic>
      <p:pic>
        <p:nvPicPr>
          <p:cNvPr id="5" name="Picture 1293869529" title="Insertando imagen...">
            <a:extLst>
              <a:ext uri="{FF2B5EF4-FFF2-40B4-BE49-F238E27FC236}">
                <a16:creationId xmlns:a16="http://schemas.microsoft.com/office/drawing/2014/main" id="{5F425461-4A90-FA81-59F8-A952701A0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340" y="5090583"/>
            <a:ext cx="5981065" cy="1571625"/>
          </a:xfrm>
          <a:prstGeom prst="rect">
            <a:avLst/>
          </a:prstGeom>
        </p:spPr>
      </p:pic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7E82DFEA-5661-2971-A2D6-ADD2080ED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34D1221-90B6-ECD5-D382-44BD2760117E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56B3A-F8F8-2E60-35B6-CB5D0E7FB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3" y="248031"/>
            <a:ext cx="6347713" cy="567944"/>
          </a:xfrm>
        </p:spPr>
        <p:txBody>
          <a:bodyPr>
            <a:normAutofit fontScale="90000"/>
          </a:bodyPr>
          <a:lstStyle/>
          <a:p>
            <a:r>
              <a:rPr lang="en-US" dirty="0"/>
              <a:t>Vista </a:t>
            </a:r>
            <a:r>
              <a:rPr lang="en-US" dirty="0" err="1"/>
              <a:t>logica</a:t>
            </a:r>
            <a:r>
              <a:rPr lang="en-US" dirty="0"/>
              <a:t>: </a:t>
            </a: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clases</a:t>
            </a:r>
            <a:endParaRPr lang="es-419" dirty="0"/>
          </a:p>
        </p:txBody>
      </p:sp>
      <p:pic>
        <p:nvPicPr>
          <p:cNvPr id="3074" name="Picture 2" descr="Diagrama, Esquemático&#10;&#10;El contenido generado por IA puede ser incorrecto., Imagen">
            <a:extLst>
              <a:ext uri="{FF2B5EF4-FFF2-40B4-BE49-F238E27FC236}">
                <a16:creationId xmlns:a16="http://schemas.microsoft.com/office/drawing/2014/main" id="{E64F9E9B-AC39-9DB7-6128-2D9E91C298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39" y="960120"/>
            <a:ext cx="6714925" cy="505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FC80B707-FB6C-E691-571F-4F23B198A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4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4AAA1-A393-30EC-6B2F-42207DF2A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DIAGRAMA DE COMPONENTES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6A702FC-2248-7780-EC8A-E88E33595E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87" y="2314257"/>
            <a:ext cx="7886331" cy="362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8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04868-6B6C-BC5F-4E76-EB6B6528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Vista Externa: Caso de Uso</a:t>
            </a:r>
            <a:endParaRPr lang="es-419" dirty="0"/>
          </a:p>
        </p:txBody>
      </p:sp>
      <p:pic>
        <p:nvPicPr>
          <p:cNvPr id="2050" name="Picture 2" descr="Interfaz de usuario gráfica, Texto&#10;&#10;El contenido generado por IA puede ser incorrecto., Imagen">
            <a:extLst>
              <a:ext uri="{FF2B5EF4-FFF2-40B4-BE49-F238E27FC236}">
                <a16:creationId xmlns:a16="http://schemas.microsoft.com/office/drawing/2014/main" id="{05EE198D-28BE-CDE3-15EA-95DCED1011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75" y="1513246"/>
            <a:ext cx="5377487" cy="473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509AC30C-D0A8-D9E2-7C1A-929CC29B8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8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54F04-618E-965B-2846-4882C9D2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41" y="717874"/>
            <a:ext cx="7213175" cy="693369"/>
          </a:xfrm>
        </p:spPr>
        <p:txBody>
          <a:bodyPr>
            <a:normAutofit/>
          </a:bodyPr>
          <a:lstStyle/>
          <a:p>
            <a:r>
              <a:rPr lang="en-US" sz="2800" dirty="0"/>
              <a:t>Vista de </a:t>
            </a:r>
            <a:r>
              <a:rPr lang="en-US" sz="2800" dirty="0" err="1"/>
              <a:t>proceso</a:t>
            </a:r>
            <a:r>
              <a:rPr lang="en-US" sz="2800" dirty="0"/>
              <a:t>: Diagrama de secuencia</a:t>
            </a:r>
            <a:endParaRPr lang="es-419" sz="2800" dirty="0"/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768D85AC-06F1-D3FA-5E79-A67D511C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pic>
        <p:nvPicPr>
          <p:cNvPr id="1028" name="Picture 4" descr="Gráfico&#10;&#10;El contenido generado por IA puede ser incorrecto., Imagen">
            <a:extLst>
              <a:ext uri="{FF2B5EF4-FFF2-40B4-BE49-F238E27FC236}">
                <a16:creationId xmlns:a16="http://schemas.microsoft.com/office/drawing/2014/main" id="{5FF214F3-A005-2639-1828-5FF03B40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41" y="1746480"/>
            <a:ext cx="7462060" cy="356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353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Revisión</a:t>
            </a:r>
            <a:r>
              <a:rPr dirty="0"/>
              <a:t> del backlog</a:t>
            </a:r>
          </a:p>
          <a:p>
            <a:r>
              <a:rPr dirty="0" err="1"/>
              <a:t>Esfuerzo</a:t>
            </a:r>
            <a:r>
              <a:rPr dirty="0"/>
              <a:t> y </a:t>
            </a:r>
            <a:r>
              <a:rPr dirty="0" err="1"/>
              <a:t>gráficos</a:t>
            </a:r>
            <a:r>
              <a:rPr dirty="0"/>
              <a:t> Burn Down / Up</a:t>
            </a:r>
            <a:endParaRPr lang="es-419" dirty="0"/>
          </a:p>
          <a:p>
            <a:r>
              <a:rPr lang="es-MX" dirty="0"/>
              <a:t>Retrospectiva y plan de mejora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7E95CBF5-1D15-4771-FB3D-1B072A590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85B140E-1F3B-D7ED-F545-98149D4F7EE0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ugcom.cl">
            <a:extLst>
              <a:ext uri="{FF2B5EF4-FFF2-40B4-BE49-F238E27FC236}">
                <a16:creationId xmlns:a16="http://schemas.microsoft.com/office/drawing/2014/main" id="{0EBB4875-EECF-EB50-E9E8-417DAAA6C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496025"/>
            <a:ext cx="1137067" cy="1137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Icono&#10;&#10;El contenido generado por IA puede ser incorrecto.">
            <a:extLst>
              <a:ext uri="{FF2B5EF4-FFF2-40B4-BE49-F238E27FC236}">
                <a16:creationId xmlns:a16="http://schemas.microsoft.com/office/drawing/2014/main" id="{13A16D1E-B79C-59E6-3509-36C1EF77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92" y="108352"/>
            <a:ext cx="1137067" cy="9562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E2A5CF1-1DFC-01EA-A935-69784121A3B6}"/>
              </a:ext>
            </a:extLst>
          </p:cNvPr>
          <p:cNvSpPr txBox="1"/>
          <p:nvPr/>
        </p:nvSpPr>
        <p:spPr>
          <a:xfrm>
            <a:off x="7693921" y="1064559"/>
            <a:ext cx="136004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/>
              <a:t>Facultad de ingeniería</a:t>
            </a:r>
          </a:p>
          <a:p>
            <a:r>
              <a:rPr lang="es-CL" sz="800" dirty="0"/>
              <a:t>Ingeniería de software I</a:t>
            </a:r>
          </a:p>
          <a:p>
            <a:endParaRPr lang="es-CL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B1E5721-C00A-0D24-A767-89FFED88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297936"/>
            <a:ext cx="6347714" cy="1320800"/>
          </a:xfrm>
        </p:spPr>
        <p:txBody>
          <a:bodyPr/>
          <a:lstStyle/>
          <a:p>
            <a:r>
              <a:rPr lang="en-US" dirty="0"/>
              <a:t>A Continuaci</a:t>
            </a:r>
            <a:r>
              <a:rPr lang="es-CL" dirty="0"/>
              <a:t>ó</a:t>
            </a:r>
            <a:r>
              <a:rPr lang="en-US" dirty="0"/>
              <a:t>n una Demo…</a:t>
            </a:r>
            <a:endParaRPr lang="es-4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501</TotalTime>
  <Words>263</Words>
  <Application>Microsoft Office PowerPoint</Application>
  <PresentationFormat>Presentación en pantalla (4:3)</PresentationFormat>
  <Paragraphs>63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Arial</vt:lpstr>
      <vt:lpstr>Times New Roman</vt:lpstr>
      <vt:lpstr>Trebuchet MS</vt:lpstr>
      <vt:lpstr>Wingdings 3</vt:lpstr>
      <vt:lpstr>Faceta</vt:lpstr>
      <vt:lpstr>PROYECTO INGENIERÍA DE SOFTWARE PRIMER INCREMENTO PARA EL SISTEMA BIOMÉTRICO WEB EUGCOM</vt:lpstr>
      <vt:lpstr>Contenido</vt:lpstr>
      <vt:lpstr>Introducción</vt:lpstr>
      <vt:lpstr>Arquitectura y Tecnologías</vt:lpstr>
      <vt:lpstr>Incremento 1</vt:lpstr>
      <vt:lpstr>Product Backlog</vt:lpstr>
      <vt:lpstr>Sprint Backlog y Casos de Uso</vt:lpstr>
      <vt:lpstr>Vista logica: diagrama de clases</vt:lpstr>
      <vt:lpstr>DIAGRAMA DE COMPONENTES</vt:lpstr>
      <vt:lpstr>Vista Externa: Caso de Uso</vt:lpstr>
      <vt:lpstr>Vista de proceso: Diagrama de secuencia</vt:lpstr>
      <vt:lpstr>Sprint Review</vt:lpstr>
      <vt:lpstr>A Continuación una Demo…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Benja</dc:creator>
  <cp:keywords/>
  <dc:description>generated using python-pptx</dc:description>
  <cp:lastModifiedBy>Addan saez</cp:lastModifiedBy>
  <cp:revision>13</cp:revision>
  <dcterms:created xsi:type="dcterms:W3CDTF">2013-01-27T09:14:16Z</dcterms:created>
  <dcterms:modified xsi:type="dcterms:W3CDTF">2025-08-18T22:40:29Z</dcterms:modified>
  <cp:category/>
</cp:coreProperties>
</file>