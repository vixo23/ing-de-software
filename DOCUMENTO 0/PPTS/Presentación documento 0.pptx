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6" r:id="rId10"/>
    <p:sldId id="264" r:id="rId11"/>
    <p:sldId id="265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7C391-EC23-4BBF-B99C-4C11AA46AE76}" v="14" dt="2025-05-08T21:31:35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8/22/2025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60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8/22/2025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9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8/22/2025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7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8/22/2025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8/22/2025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4302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8/22/2025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5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8/22/2025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5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8/22/2025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75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88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91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87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Canica con tonos marrones y aguamarina">
            <a:extLst>
              <a:ext uri="{FF2B5EF4-FFF2-40B4-BE49-F238E27FC236}">
                <a16:creationId xmlns:a16="http://schemas.microsoft.com/office/drawing/2014/main" id="{7183D6D5-C5CF-2342-80D6-9068467C0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8" r="12787" b="1"/>
          <a:stretch/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BA4BDC-CC38-4427-EE33-50783D578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793" y="649224"/>
            <a:ext cx="5175230" cy="2602462"/>
          </a:xfrm>
        </p:spPr>
        <p:txBody>
          <a:bodyPr anchor="b">
            <a:normAutofit/>
          </a:bodyPr>
          <a:lstStyle/>
          <a:p>
            <a:pPr rtl="0"/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PROYECTO INGENIERÍA DE SOFTWARE </a:t>
            </a:r>
            <a:br>
              <a:rPr lang="es-ES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SISTEMA BIOMÉTRICO WEB EUGCOM</a:t>
            </a:r>
            <a:br>
              <a:rPr lang="es-ES" sz="2000" b="0" dirty="0">
                <a:effectLst/>
              </a:rPr>
            </a:br>
            <a:br>
              <a:rPr lang="es-ES" sz="2000" dirty="0"/>
            </a:br>
            <a:endParaRPr lang="es-CL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3DDCF0-0BD5-F8D8-90B3-2A0A07AB0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42" y="2913358"/>
            <a:ext cx="4162357" cy="3542306"/>
          </a:xfrm>
        </p:spPr>
        <p:txBody>
          <a:bodyPr anchor="t">
            <a:normAutofit fontScale="25000" lnSpcReduction="20000"/>
          </a:bodyPr>
          <a:lstStyle/>
          <a:p>
            <a:pPr rtl="0">
              <a:buNone/>
            </a:pPr>
            <a:r>
              <a:rPr lang="es-CL" sz="4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Integrantes:</a:t>
            </a:r>
            <a:endParaRPr lang="es-CL" sz="40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Benjamín Alberto Franco Silva</a:t>
            </a:r>
            <a:endParaRPr lang="es-CL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Vicente Ignacio Henríquez Cortés</a:t>
            </a:r>
            <a:endParaRPr lang="es-CL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Addán</a:t>
            </a: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Ignacio Sáez Rodríguez</a:t>
            </a:r>
            <a:endParaRPr lang="es-CL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s-CL" sz="3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Felipe Andrés Uribe del Pino</a:t>
            </a:r>
          </a:p>
          <a:p>
            <a:pPr>
              <a:spcBef>
                <a:spcPts val="1800"/>
              </a:spcBef>
            </a:pPr>
            <a:r>
              <a:rPr lang="es-CL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Catalina Vidal </a:t>
            </a:r>
            <a:r>
              <a:rPr lang="es-CL"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Gallardo</a:t>
            </a:r>
            <a:endParaRPr lang="es-CL" sz="32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Diego Yves Amaro Véliz Riquelme</a:t>
            </a:r>
            <a:endParaRPr lang="es-CL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4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Profesor:</a:t>
            </a:r>
            <a:endParaRPr lang="es-CL" sz="40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800"/>
              </a:spcBef>
              <a:buNone/>
            </a:pP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Paulo Luis Francisco </a:t>
            </a:r>
            <a:r>
              <a:rPr lang="es-CL" sz="3200" b="0" i="0" u="none" strike="noStrik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Quinsacara</a:t>
            </a:r>
            <a:r>
              <a:rPr lang="es-CL" sz="3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Jofré</a:t>
            </a:r>
            <a:endParaRPr lang="es-CL" sz="36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s-CL" dirty="0"/>
            </a:br>
            <a:endParaRPr lang="es-CL" dirty="0"/>
          </a:p>
        </p:txBody>
      </p:sp>
      <p:pic>
        <p:nvPicPr>
          <p:cNvPr id="1026" name="Picture 2" descr="Universidad Andrés Bello - Red Campus Sustentable">
            <a:extLst>
              <a:ext uri="{FF2B5EF4-FFF2-40B4-BE49-F238E27FC236}">
                <a16:creationId xmlns:a16="http://schemas.microsoft.com/office/drawing/2014/main" id="{8DC77C48-38CA-ACDF-41BB-E402CDCD8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0C04DC4-8A34-AEEF-C305-231220E93B2B}"/>
              </a:ext>
            </a:extLst>
          </p:cNvPr>
          <p:cNvSpPr txBox="1"/>
          <p:nvPr/>
        </p:nvSpPr>
        <p:spPr>
          <a:xfrm>
            <a:off x="10473436" y="1406716"/>
            <a:ext cx="1718259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Facultad de ingeniería</a:t>
            </a:r>
            <a:endParaRPr lang="es-ES" sz="1100" b="0" dirty="0">
              <a:effectLst/>
            </a:endParaRPr>
          </a:p>
          <a:p>
            <a:pPr algn="ctr" rtl="0">
              <a:spcBef>
                <a:spcPts val="800"/>
              </a:spcBef>
              <a:buNone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Ingeniería de software </a:t>
            </a:r>
            <a:endParaRPr lang="es-ES" sz="1100" b="0" dirty="0">
              <a:effectLst/>
            </a:endParaRPr>
          </a:p>
          <a:p>
            <a:pPr>
              <a:buNone/>
            </a:pPr>
            <a:br>
              <a:rPr lang="es-ES" dirty="0"/>
            </a:br>
            <a:endParaRPr lang="es-CL" dirty="0"/>
          </a:p>
        </p:txBody>
      </p:sp>
      <p:pic>
        <p:nvPicPr>
          <p:cNvPr id="1028" name="Picture 4" descr="Eugcom.cl">
            <a:extLst>
              <a:ext uri="{FF2B5EF4-FFF2-40B4-BE49-F238E27FC236}">
                <a16:creationId xmlns:a16="http://schemas.microsoft.com/office/drawing/2014/main" id="{8451F2A0-75E2-C2D3-89D4-AD03B0725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172" y="2840074"/>
            <a:ext cx="1173035" cy="1173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077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Freeform: Shape 2054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1" name="Freeform: Shape 2060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5" name="Freeform: Shape 2064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9" name="Freeform: Shape 2068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071" name="Rectangle 207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0B6C65-760B-DDE1-BC42-6C1B071C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045" y="1346200"/>
            <a:ext cx="5624118" cy="3284538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4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</a:p>
        </p:txBody>
      </p:sp>
      <p:sp>
        <p:nvSpPr>
          <p:cNvPr id="2073" name="Freeform: Shape 2072">
            <a:extLst>
              <a:ext uri="{FF2B5EF4-FFF2-40B4-BE49-F238E27FC236}">
                <a16:creationId xmlns:a16="http://schemas.microsoft.com/office/drawing/2014/main" id="{E667A721-F18D-4002-9D70-BC20D791C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7555" y="993913"/>
            <a:ext cx="5224848" cy="4884295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75" name="Freeform: Shape 2074">
            <a:extLst>
              <a:ext uri="{FF2B5EF4-FFF2-40B4-BE49-F238E27FC236}">
                <a16:creationId xmlns:a16="http://schemas.microsoft.com/office/drawing/2014/main" id="{A896E309-9008-4FCF-B20E-4D66A8893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293" y="1074738"/>
            <a:ext cx="4906732" cy="467981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77" name="Freeform: Shape 2076">
            <a:extLst>
              <a:ext uri="{FF2B5EF4-FFF2-40B4-BE49-F238E27FC236}">
                <a16:creationId xmlns:a16="http://schemas.microsoft.com/office/drawing/2014/main" id="{866FB43D-65CC-47CA-8035-FF8F6B4D1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837" y="850790"/>
            <a:ext cx="5407926" cy="5136542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Eugcom.cl">
            <a:extLst>
              <a:ext uri="{FF2B5EF4-FFF2-40B4-BE49-F238E27FC236}">
                <a16:creationId xmlns:a16="http://schemas.microsoft.com/office/drawing/2014/main" id="{0B9DAD36-BF2F-94A9-30D0-3CAE466C7B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45783" y="1890885"/>
            <a:ext cx="2919266" cy="291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3FF0ABF3-90A8-6EDE-3421-813E04DEA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36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8B598134-D292-43E6-9C55-117198046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1834" y="0"/>
            <a:ext cx="4980168" cy="6858000"/>
          </a:xfrm>
          <a:custGeom>
            <a:avLst/>
            <a:gdLst>
              <a:gd name="connsiteX0" fmla="*/ 1623023 w 4901771"/>
              <a:gd name="connsiteY0" fmla="*/ 0 h 6858000"/>
              <a:gd name="connsiteX1" fmla="*/ 2716256 w 4901771"/>
              <a:gd name="connsiteY1" fmla="*/ 0 h 6858000"/>
              <a:gd name="connsiteX2" fmla="*/ 3496422 w 4901771"/>
              <a:gd name="connsiteY2" fmla="*/ 0 h 6858000"/>
              <a:gd name="connsiteX3" fmla="*/ 4544484 w 4901771"/>
              <a:gd name="connsiteY3" fmla="*/ 0 h 6858000"/>
              <a:gd name="connsiteX4" fmla="*/ 4710787 w 4901771"/>
              <a:gd name="connsiteY4" fmla="*/ 0 h 6858000"/>
              <a:gd name="connsiteX5" fmla="*/ 4901771 w 4901771"/>
              <a:gd name="connsiteY5" fmla="*/ 0 h 6858000"/>
              <a:gd name="connsiteX6" fmla="*/ 4901771 w 4901771"/>
              <a:gd name="connsiteY6" fmla="*/ 6858000 h 6858000"/>
              <a:gd name="connsiteX7" fmla="*/ 4710787 w 4901771"/>
              <a:gd name="connsiteY7" fmla="*/ 6858000 h 6858000"/>
              <a:gd name="connsiteX8" fmla="*/ 4544484 w 4901771"/>
              <a:gd name="connsiteY8" fmla="*/ 6858000 h 6858000"/>
              <a:gd name="connsiteX9" fmla="*/ 3496422 w 4901771"/>
              <a:gd name="connsiteY9" fmla="*/ 6858000 h 6858000"/>
              <a:gd name="connsiteX10" fmla="*/ 2716256 w 4901771"/>
              <a:gd name="connsiteY10" fmla="*/ 6858000 h 6858000"/>
              <a:gd name="connsiteX11" fmla="*/ 2502754 w 4901771"/>
              <a:gd name="connsiteY11" fmla="*/ 6858000 h 6858000"/>
              <a:gd name="connsiteX12" fmla="*/ 2390998 w 4901771"/>
              <a:gd name="connsiteY12" fmla="*/ 6780599 h 6858000"/>
              <a:gd name="connsiteX13" fmla="*/ 1874350 w 4901771"/>
              <a:gd name="connsiteY13" fmla="*/ 6374814 h 6858000"/>
              <a:gd name="connsiteX14" fmla="*/ 0 w 4901771"/>
              <a:gd name="connsiteY14" fmla="*/ 3621656 h 6858000"/>
              <a:gd name="connsiteX15" fmla="*/ 1600899 w 4901771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A93AB1-BC33-84AF-F69A-946DD784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0" y="1045596"/>
            <a:ext cx="3689406" cy="1944371"/>
          </a:xfrm>
        </p:spPr>
        <p:txBody>
          <a:bodyPr anchor="b">
            <a:normAutofit/>
          </a:bodyPr>
          <a:lstStyle/>
          <a:p>
            <a:pPr rtl="0">
              <a:spcAft>
                <a:spcPts val="800"/>
              </a:spcAft>
            </a:pPr>
            <a:r>
              <a:rPr lang="es-CL" b="0" i="0" u="none" strike="noStrike">
                <a:effectLst/>
                <a:latin typeface="Aptos" panose="020B0004020202020204" pitchFamily="34" charset="0"/>
              </a:rPr>
              <a:t>ISHIKAWA</a:t>
            </a:r>
            <a:br>
              <a:rPr lang="es-CL" dirty="0"/>
            </a:br>
            <a:endParaRPr lang="es-CL" dirty="0"/>
          </a:p>
        </p:txBody>
      </p:sp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13DEE32C-111F-8CDA-C516-18B41AB5F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F2DFF430-9130-7825-6C8A-0179AEDB8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33" y="72258"/>
            <a:ext cx="1236805" cy="123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20604766">
            <a:extLst>
              <a:ext uri="{FF2B5EF4-FFF2-40B4-BE49-F238E27FC236}">
                <a16:creationId xmlns:a16="http://schemas.microsoft.com/office/drawing/2014/main" id="{37A9BB2C-B32E-A2C2-3633-E621D69906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4" r="1" b="331"/>
          <a:stretch/>
        </p:blipFill>
        <p:spPr>
          <a:xfrm>
            <a:off x="272620" y="1309063"/>
            <a:ext cx="7629582" cy="526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98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2605E-E174-AB71-C981-A8230383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215" y="649224"/>
            <a:ext cx="8770571" cy="768314"/>
          </a:xfrm>
        </p:spPr>
        <p:txBody>
          <a:bodyPr>
            <a:normAutofit/>
          </a:bodyPr>
          <a:lstStyle/>
          <a:p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Análisis Interno Externo de la Organización</a:t>
            </a:r>
            <a:endParaRPr lang="es-CL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CA248008-4980-9087-A34B-423EAB6DB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FE17E0E0-2CEA-1CFF-A2C7-F4CA4308C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ómo hacer una matriz FODA - Mobiliza Academy">
            <a:extLst>
              <a:ext uri="{FF2B5EF4-FFF2-40B4-BE49-F238E27FC236}">
                <a16:creationId xmlns:a16="http://schemas.microsoft.com/office/drawing/2014/main" id="{A23DA406-CEC5-8632-8443-3AC398C27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1611171"/>
            <a:ext cx="101536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2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C3346-8E8C-CC01-54F5-52442038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822" y="256540"/>
            <a:ext cx="7644356" cy="720689"/>
          </a:xfrm>
        </p:spPr>
        <p:txBody>
          <a:bodyPr>
            <a:normAutofit fontScale="90000"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Levantamiento de procesos MAIN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33AA8CBA-369D-BE30-07C4-3D02F12B6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45F9DAC4-4257-1227-433C-E08A0A06B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794808" cy="79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Marcador de contenido 5" descr="Diagrama&#10;&#10;El contenido generado por IA puede ser incorrecto.">
            <a:extLst>
              <a:ext uri="{FF2B5EF4-FFF2-40B4-BE49-F238E27FC236}">
                <a16:creationId xmlns:a16="http://schemas.microsoft.com/office/drawing/2014/main" id="{4B347A0F-99C7-C3B6-EDC1-03BDB424B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48" y="1265968"/>
            <a:ext cx="11500549" cy="541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63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9B23CA-2521-CD96-EC05-456BB407B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27" y="2156497"/>
            <a:ext cx="6779569" cy="2372226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4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Requisitos</a:t>
            </a:r>
            <a:r>
              <a:rPr lang="en-US" sz="4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funcionales</a:t>
            </a:r>
            <a:r>
              <a:rPr lang="en-US" sz="4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no </a:t>
            </a:r>
            <a:r>
              <a:rPr lang="en-US" sz="4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funcionales</a:t>
            </a:r>
            <a:endParaRPr lang="en-US" sz="46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Meiryo"/>
              <a:cs typeface="Times New Roman" panose="02020603050405020304" pitchFamily="18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2FDB343E-C421-3F0A-5D03-4A546E3BA3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6011" y="1729957"/>
            <a:ext cx="3398086" cy="3398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416D8D58-C8F2-E5A2-7470-FC26B1B24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263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5BD6C-E05C-8D5E-F7F7-701B2285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7269" y="740093"/>
            <a:ext cx="4096512" cy="699353"/>
          </a:xfrm>
        </p:spPr>
        <p:txBody>
          <a:bodyPr>
            <a:normAutofit fontScale="90000"/>
          </a:bodyPr>
          <a:lstStyle/>
          <a:p>
            <a:r>
              <a:rPr lang="es-ES"/>
              <a:t>Funcionales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1BFC23-2F3D-BDF7-36AE-77E9EF1D5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sistema debe incluir un menú desplegable que se mostrará al dar clic en la opción </a:t>
            </a:r>
            <a:r>
              <a:rPr lang="es-CL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cliqueable</a:t>
            </a:r>
            <a:r>
              <a:rPr lang="es-CL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 3 barras horizontales que se encuentra en la parte superior izquierda de la página, este menú cuenta con las siguientes secciones: Tablas maestras, ingreso de empleados, turnos, informe de asistencia y volver al menú principal. </a:t>
            </a:r>
            <a:endParaRPr lang="es-CL" dirty="0"/>
          </a:p>
        </p:txBody>
      </p:sp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4D604E91-BF0B-D736-A5B3-55C71FF30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A4547907-D561-B6D7-39A6-6A18B3232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97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5D720-CDBB-0877-A5EC-C6D4FF410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9DF64-34DC-5792-CF99-4484B04E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744" y="649224"/>
            <a:ext cx="4096512" cy="699353"/>
          </a:xfrm>
        </p:spPr>
        <p:txBody>
          <a:bodyPr>
            <a:normAutofit fontScale="90000"/>
          </a:bodyPr>
          <a:lstStyle/>
          <a:p>
            <a:r>
              <a:rPr lang="es-ES"/>
              <a:t>No Funcionales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8D4157-CCB9-B119-19DA-61F2081C6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El sistema debe ser accesible mediante un navegador web desde cualquier dispositivo móviles, como Android o iOS, y computadoras con sistema operativo Windows y macOS.</a:t>
            </a:r>
          </a:p>
          <a:p>
            <a:endParaRPr lang="es-CL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s-CL" dirty="0"/>
          </a:p>
        </p:txBody>
      </p:sp>
      <p:pic>
        <p:nvPicPr>
          <p:cNvPr id="4" name="Picture 2" descr="Universidad Andrés Bello - Red Campus Sustentable">
            <a:extLst>
              <a:ext uri="{FF2B5EF4-FFF2-40B4-BE49-F238E27FC236}">
                <a16:creationId xmlns:a16="http://schemas.microsoft.com/office/drawing/2014/main" id="{7043A6C2-C163-6C94-01FB-71A620AE8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ugcom.cl">
            <a:extLst>
              <a:ext uri="{FF2B5EF4-FFF2-40B4-BE49-F238E27FC236}">
                <a16:creationId xmlns:a16="http://schemas.microsoft.com/office/drawing/2014/main" id="{1DF2ADB1-75D8-1F97-9375-FB0A17AD2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2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6D33B-547B-7AA6-9550-9AA3F494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CBF624DA-64C0-8000-F3D3-C5337447C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C73152EB-1DB8-AB71-899F-56418808C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B59EA08-9BC6-6FA4-A88F-D54E9FF77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9538" y="1007935"/>
            <a:ext cx="7411974" cy="514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86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DA4B16-9727-ECC0-9FDF-E8DAD646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3539152"/>
            <a:ext cx="8769350" cy="873824"/>
          </a:xfrm>
        </p:spPr>
        <p:txBody>
          <a:bodyPr anchor="b">
            <a:normAutofit/>
          </a:bodyPr>
          <a:lstStyle/>
          <a:p>
            <a:pPr algn="ctr"/>
            <a:r>
              <a:rPr lang="es-ES"/>
              <a:t>Objetivo General</a:t>
            </a:r>
            <a:endParaRPr lang="es-CL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719801E-A6E2-4F88-BB91-2A71DBC4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17831" y="502276"/>
            <a:ext cx="3607800" cy="295708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84FA090-1E51-4E96-AE7C-430E378B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4077" y="421418"/>
            <a:ext cx="3943847" cy="311773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89869E-ECC4-4D30-B2DF-C7DC3DD85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0566" y="341627"/>
            <a:ext cx="4205424" cy="330404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5BD7A3A4-86A8-AEBF-E28D-439E30545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84948" y="1149748"/>
            <a:ext cx="1622104" cy="1622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3B9ADF-D44A-C964-C3DA-D9D15BAF1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4" y="4412974"/>
            <a:ext cx="8932863" cy="1677725"/>
          </a:xfrm>
        </p:spPr>
        <p:txBody>
          <a:bodyPr>
            <a:normAutofit/>
          </a:bodyPr>
          <a:lstStyle/>
          <a:p>
            <a:pPr algn="ctr"/>
            <a:r>
              <a:rPr lang="es-CL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Desarrollar un sistema biométrico web que permita a la empresa gestionar eficientemente la asistencia y control de personal mediante tecnología digital moderna.</a:t>
            </a:r>
          </a:p>
          <a:p>
            <a:pPr algn="ctr"/>
            <a:endParaRPr lang="es-CL"/>
          </a:p>
        </p:txBody>
      </p:sp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7516F171-595B-46E0-7196-5B733CFDC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906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9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3CFD8C-9D47-BB27-ADE9-B7E05E09C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3539152"/>
            <a:ext cx="8769350" cy="873824"/>
          </a:xfrm>
        </p:spPr>
        <p:txBody>
          <a:bodyPr anchor="b">
            <a:normAutofit/>
          </a:bodyPr>
          <a:lstStyle/>
          <a:p>
            <a:pPr algn="ctr"/>
            <a:r>
              <a:rPr lang="es-ES"/>
              <a:t>Objetivos Específicos</a:t>
            </a:r>
            <a:endParaRPr lang="es-CL"/>
          </a:p>
        </p:txBody>
      </p:sp>
      <p:sp>
        <p:nvSpPr>
          <p:cNvPr id="35" name="Freeform: Shape 11">
            <a:extLst>
              <a:ext uri="{FF2B5EF4-FFF2-40B4-BE49-F238E27FC236}">
                <a16:creationId xmlns:a16="http://schemas.microsoft.com/office/drawing/2014/main" id="{6719801E-A6E2-4F88-BB91-2A71DBC4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17831" y="502276"/>
            <a:ext cx="3607800" cy="295708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13">
            <a:extLst>
              <a:ext uri="{FF2B5EF4-FFF2-40B4-BE49-F238E27FC236}">
                <a16:creationId xmlns:a16="http://schemas.microsoft.com/office/drawing/2014/main" id="{284FA090-1E51-4E96-AE7C-430E378B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4077" y="421418"/>
            <a:ext cx="3943847" cy="311773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15">
            <a:extLst>
              <a:ext uri="{FF2B5EF4-FFF2-40B4-BE49-F238E27FC236}">
                <a16:creationId xmlns:a16="http://schemas.microsoft.com/office/drawing/2014/main" id="{9689869E-ECC4-4D30-B2DF-C7DC3DD85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0566" y="341627"/>
            <a:ext cx="4205424" cy="330404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7D5362D1-F595-F479-456D-8BB6BF0B4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84948" y="1149748"/>
            <a:ext cx="1622104" cy="1622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A5109C-B4B5-F435-E6ED-CC3837B65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4" y="4412974"/>
            <a:ext cx="8932863" cy="167772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9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Automatizar el registro de entrada y salida mediante huella dactilar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9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Permitir gestión de turnos, licencias y vacaciones desde una plataforma web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9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Minimizar errores administrativos y tiempos improductivos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CL" sz="19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Facilitar el acceso a reportes para la toma de decisiones</a:t>
            </a:r>
          </a:p>
          <a:p>
            <a:pPr algn="ctr"/>
            <a:endParaRPr lang="es-CL"/>
          </a:p>
        </p:txBody>
      </p:sp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F7336B0C-A6AE-6D6C-E1E4-118BFF78A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705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933763CB-1393-D43C-BD0E-AC092E818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9" y="18242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1C44533A-DABC-D7F1-B966-50472D581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D866BB-5BE3-B65C-B962-EDD405788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" name="Imagen 6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CA803840-7F55-5F45-7761-709E8CE4F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111" y="2312276"/>
            <a:ext cx="8030827" cy="327501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8E118F4-112B-FE37-B853-980C2A1C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598" y="740093"/>
            <a:ext cx="2932804" cy="699353"/>
          </a:xfrm>
        </p:spPr>
        <p:txBody>
          <a:bodyPr>
            <a:normAutofit fontScale="90000"/>
          </a:bodyPr>
          <a:lstStyle/>
          <a:p>
            <a:r>
              <a:rPr lang="es-ES" dirty="0"/>
              <a:t>Planificación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95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8E308-A260-A330-C9B1-4B8CDAEA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442220"/>
            <a:ext cx="8754177" cy="1345269"/>
          </a:xfrm>
        </p:spPr>
        <p:txBody>
          <a:bodyPr/>
          <a:lstStyle/>
          <a:p>
            <a:pPr algn="ctr"/>
            <a:r>
              <a:rPr lang="es-CL" dirty="0"/>
              <a:t>FLUJO DE CAJA</a:t>
            </a:r>
          </a:p>
        </p:txBody>
      </p:sp>
      <p:pic>
        <p:nvPicPr>
          <p:cNvPr id="4" name="Marcador de contenido 3" descr="Tabla&#10;&#10;El contenido generado por IA puede ser incorrecto.">
            <a:extLst>
              <a:ext uri="{FF2B5EF4-FFF2-40B4-BE49-F238E27FC236}">
                <a16:creationId xmlns:a16="http://schemas.microsoft.com/office/drawing/2014/main" id="{E5FA60AF-5BEC-2C85-EE0B-5AFBCB5AD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7939" y="2924785"/>
            <a:ext cx="7076122" cy="291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02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5C62259-4F90-418D-908C-9127ACC5F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0839" y="370224"/>
            <a:ext cx="7203799" cy="6030364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A835FD4-D707-4178-B672-AC418F0BE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3467" y="143123"/>
            <a:ext cx="7778543" cy="6484567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EAEE08D-A745-4391-9073-9E99767E0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4539" y="266074"/>
            <a:ext cx="7489662" cy="625218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58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2" descr="Eugcom.cl">
            <a:extLst>
              <a:ext uri="{FF2B5EF4-FFF2-40B4-BE49-F238E27FC236}">
                <a16:creationId xmlns:a16="http://schemas.microsoft.com/office/drawing/2014/main" id="{B0EF66C4-989B-4EA0-E030-B8E99B53D1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9041" y="1525077"/>
            <a:ext cx="3720657" cy="372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iversidad Andrés Bello - Red Campus Sustentable">
            <a:extLst>
              <a:ext uri="{FF2B5EF4-FFF2-40B4-BE49-F238E27FC236}">
                <a16:creationId xmlns:a16="http://schemas.microsoft.com/office/drawing/2014/main" id="{E455F97E-1881-54C6-1B8D-4E0808831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013" y="32480"/>
            <a:ext cx="1464545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899807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Panorámica</PresentationFormat>
  <Paragraphs>32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Meiryo</vt:lpstr>
      <vt:lpstr>Aptos</vt:lpstr>
      <vt:lpstr>Arial</vt:lpstr>
      <vt:lpstr>Corbel</vt:lpstr>
      <vt:lpstr>Times New Roman</vt:lpstr>
      <vt:lpstr>SketchLinesVTI</vt:lpstr>
      <vt:lpstr>PROYECTO INGENIERÍA DE SOFTWARE  SISTEMA BIOMÉTRICO WEB EUGCOM  </vt:lpstr>
      <vt:lpstr>INTRODUCCIÓN</vt:lpstr>
      <vt:lpstr>ISHIKAWA </vt:lpstr>
      <vt:lpstr>Análisis Interno Externo de la Organización</vt:lpstr>
      <vt:lpstr>Levantamiento de procesos MAIN</vt:lpstr>
      <vt:lpstr>Requisitos funcionales y no funcionales</vt:lpstr>
      <vt:lpstr>Funcionales</vt:lpstr>
      <vt:lpstr>No Funcionales</vt:lpstr>
      <vt:lpstr>Presentación de PowerPoint</vt:lpstr>
      <vt:lpstr>Objetivo General</vt:lpstr>
      <vt:lpstr>Objetivos Específicos</vt:lpstr>
      <vt:lpstr>Planificación</vt:lpstr>
      <vt:lpstr>FLUJO DE CAJA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Addan saez</dc:creator>
  <cp:lastModifiedBy>Addan saez</cp:lastModifiedBy>
  <cp:revision>2</cp:revision>
  <dcterms:created xsi:type="dcterms:W3CDTF">2025-04-26T23:21:59Z</dcterms:created>
  <dcterms:modified xsi:type="dcterms:W3CDTF">2025-08-23T03:24:33Z</dcterms:modified>
</cp:coreProperties>
</file>